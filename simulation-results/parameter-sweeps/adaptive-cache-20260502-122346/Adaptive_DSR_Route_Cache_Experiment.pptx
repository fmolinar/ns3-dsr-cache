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26"/>
  </p:normalViewPr>
  <p:slideViewPr>
    <p:cSldViewPr snapToGrid="0">
      <p:cViewPr varScale="1">
        <p:scale>
          <a:sx n="121" d="100"/>
          <a:sy n="121" d="100"/>
        </p:scale>
        <p:origin x="74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417A50-5748-A514-F70B-96CC2E25834D}"/>
              </a:ext>
            </a:extLst>
          </p:cNvPr>
          <p:cNvSpPr txBox="1"/>
          <p:nvPr userDrawn="1">
            <p:extLst>
              <p:ext uri="{1162E1C5-73C7-4A58-AE30-91384D911F3F}">
                <p184:classification xmlns:p184="http://schemas.microsoft.com/office/powerpoint/2018/4/main" val="ftr"/>
              </p:ext>
            </p:extLst>
          </p:nvPr>
        </p:nvSpPr>
        <p:spPr>
          <a:xfrm>
            <a:off x="11315700" y="6672580"/>
            <a:ext cx="833438"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Cisco Confidential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8CA16EC6-0690-4956-B2FB-C371CD63A56E}"/>
              </a:ext>
            </a:extLst>
          </p:cNvPr>
          <p:cNvSpPr>
            <a:spLocks noGrp="1"/>
          </p:cNvSpPr>
          <p:nvPr/>
        </p:nvSpPr>
        <p:spPr>
          <a:xfrm>
            <a:off x="0" y="0"/>
            <a:ext cx="12192000" cy="6858000"/>
          </a:xfrm>
          <a:prstGeom prst="rect">
            <a:avLst/>
          </a:prstGeom>
          <a:solidFill>
            <a:srgbClr val="F7FAFD"/>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C73ED841-097A-49FB-9328-948071754D97}"/>
              </a:ext>
            </a:extLst>
          </p:cNvPr>
          <p:cNvSpPr>
            <a:spLocks noGrp="1"/>
          </p:cNvSpPr>
          <p:nvPr/>
        </p:nvSpPr>
        <p:spPr>
          <a:xfrm>
            <a:off x="0" y="304800"/>
            <a:ext cx="12192000" cy="6858000"/>
          </a:xfrm>
          <a:prstGeom prst="rect">
            <a:avLst/>
          </a:prstGeom>
          <a:solidFill>
            <a:srgbClr val="FFFFF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AA84611C-E848-4572-93AD-040C7EEC34C1}"/>
              </a:ext>
            </a:extLst>
          </p:cNvPr>
          <p:cNvSpPr>
            <a:spLocks noGrp="1"/>
          </p:cNvSpPr>
          <p:nvPr/>
        </p:nvSpPr>
        <p:spPr>
          <a:xfrm>
            <a:off x="514350" y="514350"/>
            <a:ext cx="47625" cy="495300"/>
          </a:xfrm>
          <a:prstGeom prst="rect">
            <a:avLst/>
          </a:prstGeom>
          <a:solidFill>
            <a:srgbClr val="2F80ED"/>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1A1EEF3E-7A0A-4399-9543-A59AAE17F24B}"/>
              </a:ext>
            </a:extLst>
          </p:cNvPr>
          <p:cNvSpPr>
            <a:spLocks noGrp="1"/>
          </p:cNvSpPr>
          <p:nvPr/>
        </p:nvSpPr>
        <p:spPr>
          <a:xfrm>
            <a:off x="723900" y="514350"/>
            <a:ext cx="3619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647085"/>
                </a:solidFill>
                <a:latin typeface="Aptos"/>
                <a:ea typeface="Aptos"/>
                <a:cs typeface="Aptos"/>
              </a:defRPr>
            </a:pPr>
            <a:r>
              <a:rPr sz="750" b="1">
                <a:solidFill>
                  <a:srgbClr val="647085"/>
                </a:solidFill>
                <a:latin typeface="Aptos"/>
                <a:ea typeface="Aptos"/>
                <a:cs typeface="Aptos"/>
              </a:rPr>
              <a:t>NS-3 MANET ROUTING EXPERIMENT</a:t>
            </a:r>
          </a:p>
        </p:txBody>
      </p:sp>
      <p:sp>
        <p:nvSpPr>
          <p:cNvPr id="5" name="Rectangle 4">
            <a:extLst>
              <a:ext uri="{FF2B5EF4-FFF2-40B4-BE49-F238E27FC236}">
                <a16:creationId xmlns:a16="http://schemas.microsoft.com/office/drawing/2014/main" id="{CA78CF84-F874-4E66-9231-D310D2C4965A}"/>
              </a:ext>
            </a:extLst>
          </p:cNvPr>
          <p:cNvSpPr>
            <a:spLocks noGrp="1"/>
          </p:cNvSpPr>
          <p:nvPr/>
        </p:nvSpPr>
        <p:spPr>
          <a:xfrm>
            <a:off x="514350" y="1485900"/>
            <a:ext cx="6858000" cy="800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600" b="1">
                <a:solidFill>
                  <a:srgbClr val="142033"/>
                </a:solidFill>
                <a:latin typeface="Aptos Display"/>
                <a:ea typeface="Aptos Display"/>
                <a:cs typeface="Aptos Display"/>
              </a:defRPr>
            </a:pPr>
            <a:r>
              <a:rPr sz="3600" b="1">
                <a:solidFill>
                  <a:srgbClr val="142033"/>
                </a:solidFill>
                <a:latin typeface="Aptos Display"/>
                <a:ea typeface="Aptos Display"/>
                <a:cs typeface="Aptos Display"/>
              </a:rPr>
              <a:t>Adaptive DSR Route Cache</a:t>
            </a:r>
          </a:p>
        </p:txBody>
      </p:sp>
      <p:sp>
        <p:nvSpPr>
          <p:cNvPr id="6" name="Rectangle 5">
            <a:extLst>
              <a:ext uri="{FF2B5EF4-FFF2-40B4-BE49-F238E27FC236}">
                <a16:creationId xmlns:a16="http://schemas.microsoft.com/office/drawing/2014/main" id="{BF9401DB-889A-4C89-988C-0A1ED694FE95}"/>
              </a:ext>
            </a:extLst>
          </p:cNvPr>
          <p:cNvSpPr>
            <a:spLocks noGrp="1"/>
          </p:cNvSpPr>
          <p:nvPr/>
        </p:nvSpPr>
        <p:spPr>
          <a:xfrm>
            <a:off x="552450" y="2476500"/>
            <a:ext cx="68580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647085"/>
                </a:solidFill>
                <a:latin typeface="Aptos"/>
                <a:ea typeface="Aptos"/>
                <a:cs typeface="Aptos"/>
              </a:defRPr>
            </a:pPr>
            <a:r>
              <a:rPr sz="1575" b="0" dirty="0">
                <a:solidFill>
                  <a:srgbClr val="647085"/>
                </a:solidFill>
                <a:latin typeface="Aptos"/>
                <a:ea typeface="Aptos"/>
                <a:cs typeface="Aptos"/>
              </a:rPr>
              <a:t>Parameter sweep comparing mobility-scaled </a:t>
            </a:r>
            <a:r>
              <a:rPr sz="1575" b="0" dirty="0" err="1">
                <a:solidFill>
                  <a:srgbClr val="647085"/>
                </a:solidFill>
                <a:latin typeface="Aptos"/>
                <a:ea typeface="Aptos"/>
                <a:cs typeface="Aptos"/>
              </a:rPr>
              <a:t>LinkCache</a:t>
            </a:r>
            <a:r>
              <a:rPr sz="1575" b="0" dirty="0">
                <a:solidFill>
                  <a:srgbClr val="647085"/>
                </a:solidFill>
                <a:latin typeface="Aptos"/>
                <a:ea typeface="Aptos"/>
                <a:cs typeface="Aptos"/>
              </a:rPr>
              <a:t> timers against fixed DSR cache behavior</a:t>
            </a:r>
            <a:endParaRPr lang="en-US" sz="1575" b="0" dirty="0">
              <a:solidFill>
                <a:srgbClr val="647085"/>
              </a:solidFill>
              <a:latin typeface="Aptos"/>
              <a:ea typeface="Aptos"/>
              <a:cs typeface="Aptos"/>
            </a:endParaRPr>
          </a:p>
          <a:p>
            <a:pPr algn="l">
              <a:defRPr sz="1575" b="0">
                <a:solidFill>
                  <a:srgbClr val="647085"/>
                </a:solidFill>
                <a:latin typeface="Aptos"/>
                <a:ea typeface="Aptos"/>
                <a:cs typeface="Aptos"/>
              </a:defRPr>
            </a:pPr>
            <a:endParaRPr lang="en-US" sz="1575" dirty="0">
              <a:solidFill>
                <a:srgbClr val="647085"/>
              </a:solidFill>
              <a:latin typeface="Aptos"/>
              <a:ea typeface="Aptos"/>
              <a:cs typeface="Aptos"/>
            </a:endParaRPr>
          </a:p>
          <a:p>
            <a:pPr>
              <a:defRPr sz="1575" b="0">
                <a:solidFill>
                  <a:srgbClr val="647085"/>
                </a:solidFill>
                <a:latin typeface="Aptos"/>
                <a:ea typeface="Aptos"/>
                <a:cs typeface="Aptos"/>
              </a:defRPr>
            </a:pPr>
            <a:r>
              <a:rPr lang="en-US" sz="1575" b="0" dirty="0">
                <a:solidFill>
                  <a:srgbClr val="647085"/>
                </a:solidFill>
                <a:latin typeface="Aptos"/>
                <a:ea typeface="Aptos"/>
                <a:cs typeface="Aptos"/>
              </a:rPr>
              <a:t>Fernando Molina Rodriguez</a:t>
            </a:r>
            <a:br>
              <a:rPr lang="en-US" sz="1575" b="0" dirty="0">
                <a:solidFill>
                  <a:srgbClr val="647085"/>
                </a:solidFill>
                <a:latin typeface="Aptos"/>
                <a:ea typeface="Aptos"/>
                <a:cs typeface="Aptos"/>
              </a:rPr>
            </a:br>
            <a:r>
              <a:rPr lang="en-US" sz="1575" dirty="0"/>
              <a:t>Rajat Chaudhary</a:t>
            </a:r>
            <a:endParaRPr sz="1575" b="0" dirty="0">
              <a:solidFill>
                <a:srgbClr val="647085"/>
              </a:solidFill>
              <a:latin typeface="Aptos"/>
              <a:ea typeface="Aptos"/>
              <a:cs typeface="Aptos"/>
            </a:endParaRPr>
          </a:p>
        </p:txBody>
      </p:sp>
      <p:sp>
        <p:nvSpPr>
          <p:cNvPr id="7" name="Rectangle 6">
            <a:extLst>
              <a:ext uri="{FF2B5EF4-FFF2-40B4-BE49-F238E27FC236}">
                <a16:creationId xmlns:a16="http://schemas.microsoft.com/office/drawing/2014/main" id="{77704CE4-4125-4821-A306-197A53C2C7DA}"/>
              </a:ext>
            </a:extLst>
          </p:cNvPr>
          <p:cNvSpPr>
            <a:spLocks noGrp="1"/>
          </p:cNvSpPr>
          <p:nvPr/>
        </p:nvSpPr>
        <p:spPr>
          <a:xfrm>
            <a:off x="552450" y="3905250"/>
            <a:ext cx="10572750" cy="9525"/>
          </a:xfrm>
          <a:prstGeom prst="rect">
            <a:avLst/>
          </a:prstGeom>
          <a:solidFill>
            <a:srgbClr val="D9E2EC"/>
          </a:solidFill>
          <a:ln w="0">
            <a:solidFill>
              <a:srgbClr val="000000">
                <a:alpha val="0"/>
              </a:srgbClr>
            </a:solidFill>
            <a:prstDash val="solid"/>
          </a:ln>
        </p:spPr>
        <p:txBody>
          <a:bodyPr/>
          <a:lstStyle/>
          <a:p>
            <a:endParaRPr lang="en-US"/>
          </a:p>
        </p:txBody>
      </p:sp>
      <p:sp>
        <p:nvSpPr>
          <p:cNvPr id="8" name="Rectangle 7">
            <a:extLst>
              <a:ext uri="{FF2B5EF4-FFF2-40B4-BE49-F238E27FC236}">
                <a16:creationId xmlns:a16="http://schemas.microsoft.com/office/drawing/2014/main" id="{58EE7D58-1850-4247-9549-6B7324AD3114}"/>
              </a:ext>
            </a:extLst>
          </p:cNvPr>
          <p:cNvSpPr>
            <a:spLocks noGrp="1"/>
          </p:cNvSpPr>
          <p:nvPr/>
        </p:nvSpPr>
        <p:spPr>
          <a:xfrm>
            <a:off x="552450" y="4438650"/>
            <a:ext cx="38100" cy="685800"/>
          </a:xfrm>
          <a:prstGeom prst="rect">
            <a:avLst/>
          </a:prstGeom>
          <a:solidFill>
            <a:srgbClr val="2F80ED"/>
          </a:solidFill>
          <a:ln w="0">
            <a:solidFill>
              <a:srgbClr val="000000">
                <a:alpha val="0"/>
              </a:srgbClr>
            </a:solidFill>
            <a:prstDash val="solid"/>
          </a:ln>
        </p:spPr>
        <p:txBody>
          <a:bodyPr/>
          <a:lstStyle/>
          <a:p>
            <a:endParaRPr lang="en-US"/>
          </a:p>
        </p:txBody>
      </p:sp>
      <p:sp>
        <p:nvSpPr>
          <p:cNvPr id="9" name="Rectangle 8">
            <a:extLst>
              <a:ext uri="{FF2B5EF4-FFF2-40B4-BE49-F238E27FC236}">
                <a16:creationId xmlns:a16="http://schemas.microsoft.com/office/drawing/2014/main" id="{2B3EBA30-8273-4D38-A8F1-19489D35CE31}"/>
              </a:ext>
            </a:extLst>
          </p:cNvPr>
          <p:cNvSpPr>
            <a:spLocks noGrp="1"/>
          </p:cNvSpPr>
          <p:nvPr/>
        </p:nvSpPr>
        <p:spPr>
          <a:xfrm>
            <a:off x="704850" y="4419600"/>
            <a:ext cx="1619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42033"/>
                </a:solidFill>
                <a:latin typeface="Aptos"/>
                <a:ea typeface="Aptos"/>
                <a:cs typeface="Aptos"/>
              </a:defRPr>
            </a:pPr>
            <a:r>
              <a:rPr sz="2100" b="1">
                <a:solidFill>
                  <a:srgbClr val="142033"/>
                </a:solidFill>
                <a:latin typeface="Aptos"/>
                <a:ea typeface="Aptos"/>
                <a:cs typeface="Aptos"/>
              </a:rPr>
              <a:t>50</a:t>
            </a:r>
          </a:p>
        </p:txBody>
      </p:sp>
      <p:sp>
        <p:nvSpPr>
          <p:cNvPr id="10" name="Rectangle 9">
            <a:extLst>
              <a:ext uri="{FF2B5EF4-FFF2-40B4-BE49-F238E27FC236}">
                <a16:creationId xmlns:a16="http://schemas.microsoft.com/office/drawing/2014/main" id="{BB509F73-B3AF-4918-A5C4-744BD01FE76D}"/>
              </a:ext>
            </a:extLst>
          </p:cNvPr>
          <p:cNvSpPr>
            <a:spLocks noGrp="1"/>
          </p:cNvSpPr>
          <p:nvPr/>
        </p:nvSpPr>
        <p:spPr>
          <a:xfrm>
            <a:off x="704850" y="4800600"/>
            <a:ext cx="1619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647085"/>
                </a:solidFill>
                <a:latin typeface="Aptos"/>
                <a:ea typeface="Aptos"/>
                <a:cs typeface="Aptos"/>
              </a:defRPr>
            </a:pPr>
            <a:r>
              <a:rPr sz="675" b="1">
                <a:solidFill>
                  <a:srgbClr val="647085"/>
                </a:solidFill>
                <a:latin typeface="Aptos"/>
                <a:ea typeface="Aptos"/>
                <a:cs typeface="Aptos"/>
              </a:rPr>
              <a:t>NODES</a:t>
            </a:r>
          </a:p>
        </p:txBody>
      </p:sp>
      <p:sp>
        <p:nvSpPr>
          <p:cNvPr id="11" name="Rectangle 10">
            <a:extLst>
              <a:ext uri="{FF2B5EF4-FFF2-40B4-BE49-F238E27FC236}">
                <a16:creationId xmlns:a16="http://schemas.microsoft.com/office/drawing/2014/main" id="{4F8F075D-548D-41C6-A258-6763BA340A65}"/>
              </a:ext>
            </a:extLst>
          </p:cNvPr>
          <p:cNvSpPr>
            <a:spLocks noGrp="1"/>
          </p:cNvSpPr>
          <p:nvPr/>
        </p:nvSpPr>
        <p:spPr>
          <a:xfrm>
            <a:off x="704850" y="4972050"/>
            <a:ext cx="1809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647085"/>
                </a:solidFill>
                <a:latin typeface="Aptos"/>
                <a:ea typeface="Aptos"/>
                <a:cs typeface="Aptos"/>
              </a:defRPr>
            </a:pPr>
            <a:r>
              <a:rPr sz="675" b="0">
                <a:solidFill>
                  <a:srgbClr val="647085"/>
                </a:solidFill>
                <a:latin typeface="Aptos"/>
                <a:ea typeface="Aptos"/>
                <a:cs typeface="Aptos"/>
              </a:rPr>
              <a:t>Random waypoint MANET</a:t>
            </a:r>
          </a:p>
        </p:txBody>
      </p:sp>
      <p:sp>
        <p:nvSpPr>
          <p:cNvPr id="12" name="Rectangle 11">
            <a:extLst>
              <a:ext uri="{FF2B5EF4-FFF2-40B4-BE49-F238E27FC236}">
                <a16:creationId xmlns:a16="http://schemas.microsoft.com/office/drawing/2014/main" id="{05D03600-B88C-4B13-991A-FFD598750D4D}"/>
              </a:ext>
            </a:extLst>
          </p:cNvPr>
          <p:cNvSpPr>
            <a:spLocks noGrp="1"/>
          </p:cNvSpPr>
          <p:nvPr/>
        </p:nvSpPr>
        <p:spPr>
          <a:xfrm>
            <a:off x="2952750" y="4438650"/>
            <a:ext cx="38100" cy="685800"/>
          </a:xfrm>
          <a:prstGeom prst="rect">
            <a:avLst/>
          </a:prstGeom>
          <a:solidFill>
            <a:srgbClr val="00A676"/>
          </a:solidFill>
          <a:ln w="0">
            <a:solidFill>
              <a:srgbClr val="000000">
                <a:alpha val="0"/>
              </a:srgbClr>
            </a:solidFill>
            <a:prstDash val="solid"/>
          </a:ln>
        </p:spPr>
        <p:txBody>
          <a:bodyPr/>
          <a:lstStyle/>
          <a:p>
            <a:endParaRPr lang="en-US"/>
          </a:p>
        </p:txBody>
      </p:sp>
      <p:sp>
        <p:nvSpPr>
          <p:cNvPr id="13" name="Rectangle 12">
            <a:extLst>
              <a:ext uri="{FF2B5EF4-FFF2-40B4-BE49-F238E27FC236}">
                <a16:creationId xmlns:a16="http://schemas.microsoft.com/office/drawing/2014/main" id="{4D91ADA4-896F-4284-973D-011E51D58F06}"/>
              </a:ext>
            </a:extLst>
          </p:cNvPr>
          <p:cNvSpPr>
            <a:spLocks noGrp="1"/>
          </p:cNvSpPr>
          <p:nvPr/>
        </p:nvSpPr>
        <p:spPr>
          <a:xfrm>
            <a:off x="3105150" y="4419600"/>
            <a:ext cx="1619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42033"/>
                </a:solidFill>
                <a:latin typeface="Aptos"/>
                <a:ea typeface="Aptos"/>
                <a:cs typeface="Aptos"/>
              </a:defRPr>
            </a:pPr>
            <a:r>
              <a:rPr sz="2100" b="1">
                <a:solidFill>
                  <a:srgbClr val="142033"/>
                </a:solidFill>
                <a:latin typeface="Aptos"/>
                <a:ea typeface="Aptos"/>
                <a:cs typeface="Aptos"/>
              </a:rPr>
              <a:t>10</a:t>
            </a:r>
          </a:p>
        </p:txBody>
      </p:sp>
      <p:sp>
        <p:nvSpPr>
          <p:cNvPr id="14" name="Rectangle 13">
            <a:extLst>
              <a:ext uri="{FF2B5EF4-FFF2-40B4-BE49-F238E27FC236}">
                <a16:creationId xmlns:a16="http://schemas.microsoft.com/office/drawing/2014/main" id="{C0B52FE7-9C4C-42DD-8379-AB3E1C00ECCB}"/>
              </a:ext>
            </a:extLst>
          </p:cNvPr>
          <p:cNvSpPr>
            <a:spLocks noGrp="1"/>
          </p:cNvSpPr>
          <p:nvPr/>
        </p:nvSpPr>
        <p:spPr>
          <a:xfrm>
            <a:off x="3105150" y="4800600"/>
            <a:ext cx="1619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647085"/>
                </a:solidFill>
                <a:latin typeface="Aptos"/>
                <a:ea typeface="Aptos"/>
                <a:cs typeface="Aptos"/>
              </a:defRPr>
            </a:pPr>
            <a:r>
              <a:rPr sz="675" b="1">
                <a:solidFill>
                  <a:srgbClr val="647085"/>
                </a:solidFill>
                <a:latin typeface="Aptos"/>
                <a:ea typeface="Aptos"/>
                <a:cs typeface="Aptos"/>
              </a:rPr>
              <a:t>FLOWS</a:t>
            </a:r>
          </a:p>
        </p:txBody>
      </p:sp>
      <p:sp>
        <p:nvSpPr>
          <p:cNvPr id="15" name="Rectangle 14">
            <a:extLst>
              <a:ext uri="{FF2B5EF4-FFF2-40B4-BE49-F238E27FC236}">
                <a16:creationId xmlns:a16="http://schemas.microsoft.com/office/drawing/2014/main" id="{BADE11EF-29F0-4A89-8304-14F166249E56}"/>
              </a:ext>
            </a:extLst>
          </p:cNvPr>
          <p:cNvSpPr>
            <a:spLocks noGrp="1"/>
          </p:cNvSpPr>
          <p:nvPr/>
        </p:nvSpPr>
        <p:spPr>
          <a:xfrm>
            <a:off x="3105150" y="4972050"/>
            <a:ext cx="1809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647085"/>
                </a:solidFill>
                <a:latin typeface="Aptos"/>
                <a:ea typeface="Aptos"/>
                <a:cs typeface="Aptos"/>
              </a:defRPr>
            </a:pPr>
            <a:r>
              <a:rPr sz="675" b="0">
                <a:solidFill>
                  <a:srgbClr val="647085"/>
                </a:solidFill>
                <a:latin typeface="Aptos"/>
                <a:ea typeface="Aptos"/>
                <a:cs typeface="Aptos"/>
              </a:rPr>
              <a:t>one-to-one UDP pairs</a:t>
            </a:r>
          </a:p>
        </p:txBody>
      </p:sp>
      <p:sp>
        <p:nvSpPr>
          <p:cNvPr id="16" name="Rectangle 15">
            <a:extLst>
              <a:ext uri="{FF2B5EF4-FFF2-40B4-BE49-F238E27FC236}">
                <a16:creationId xmlns:a16="http://schemas.microsoft.com/office/drawing/2014/main" id="{82335BC8-D89A-44BF-AD82-B8E2777F52FB}"/>
              </a:ext>
            </a:extLst>
          </p:cNvPr>
          <p:cNvSpPr>
            <a:spLocks noGrp="1"/>
          </p:cNvSpPr>
          <p:nvPr/>
        </p:nvSpPr>
        <p:spPr>
          <a:xfrm>
            <a:off x="5334000" y="4438650"/>
            <a:ext cx="38100" cy="685800"/>
          </a:xfrm>
          <a:prstGeom prst="rect">
            <a:avLst/>
          </a:prstGeom>
          <a:solidFill>
            <a:srgbClr val="F59E0B"/>
          </a:solidFill>
          <a:ln w="0">
            <a:solidFill>
              <a:srgbClr val="000000">
                <a:alpha val="0"/>
              </a:srgbClr>
            </a:solidFill>
            <a:prstDash val="solid"/>
          </a:ln>
        </p:spPr>
        <p:txBody>
          <a:bodyPr/>
          <a:lstStyle/>
          <a:p>
            <a:endParaRPr lang="en-US"/>
          </a:p>
        </p:txBody>
      </p:sp>
      <p:sp>
        <p:nvSpPr>
          <p:cNvPr id="17" name="Rectangle 16">
            <a:extLst>
              <a:ext uri="{FF2B5EF4-FFF2-40B4-BE49-F238E27FC236}">
                <a16:creationId xmlns:a16="http://schemas.microsoft.com/office/drawing/2014/main" id="{A841D7DA-8C2F-479F-9BEA-545D5D0EE50D}"/>
              </a:ext>
            </a:extLst>
          </p:cNvPr>
          <p:cNvSpPr>
            <a:spLocks noGrp="1"/>
          </p:cNvSpPr>
          <p:nvPr/>
        </p:nvSpPr>
        <p:spPr>
          <a:xfrm>
            <a:off x="5486400" y="4419600"/>
            <a:ext cx="1619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42033"/>
                </a:solidFill>
                <a:latin typeface="Aptos"/>
                <a:ea typeface="Aptos"/>
                <a:cs typeface="Aptos"/>
              </a:defRPr>
            </a:pPr>
            <a:r>
              <a:rPr sz="2100" b="1">
                <a:solidFill>
                  <a:srgbClr val="142033"/>
                </a:solidFill>
                <a:latin typeface="Aptos"/>
                <a:ea typeface="Aptos"/>
                <a:cs typeface="Aptos"/>
              </a:rPr>
              <a:t>4</a:t>
            </a:r>
          </a:p>
        </p:txBody>
      </p:sp>
      <p:sp>
        <p:nvSpPr>
          <p:cNvPr id="18" name="Rectangle 17">
            <a:extLst>
              <a:ext uri="{FF2B5EF4-FFF2-40B4-BE49-F238E27FC236}">
                <a16:creationId xmlns:a16="http://schemas.microsoft.com/office/drawing/2014/main" id="{0D01395C-636E-48E8-B6E9-CEA72E97B8FE}"/>
              </a:ext>
            </a:extLst>
          </p:cNvPr>
          <p:cNvSpPr>
            <a:spLocks noGrp="1"/>
          </p:cNvSpPr>
          <p:nvPr/>
        </p:nvSpPr>
        <p:spPr>
          <a:xfrm>
            <a:off x="5486400" y="4800600"/>
            <a:ext cx="1619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647085"/>
                </a:solidFill>
                <a:latin typeface="Aptos"/>
                <a:ea typeface="Aptos"/>
                <a:cs typeface="Aptos"/>
              </a:defRPr>
            </a:pPr>
            <a:r>
              <a:rPr sz="675" b="1">
                <a:solidFill>
                  <a:srgbClr val="647085"/>
                </a:solidFill>
                <a:latin typeface="Aptos"/>
                <a:ea typeface="Aptos"/>
                <a:cs typeface="Aptos"/>
              </a:rPr>
              <a:t>SWEEP POINTS</a:t>
            </a:r>
          </a:p>
        </p:txBody>
      </p:sp>
      <p:sp>
        <p:nvSpPr>
          <p:cNvPr id="19" name="Rectangle 18">
            <a:extLst>
              <a:ext uri="{FF2B5EF4-FFF2-40B4-BE49-F238E27FC236}">
                <a16:creationId xmlns:a16="http://schemas.microsoft.com/office/drawing/2014/main" id="{F65951C1-220B-4B78-A763-D0E3A7DFBAA5}"/>
              </a:ext>
            </a:extLst>
          </p:cNvPr>
          <p:cNvSpPr>
            <a:spLocks noGrp="1"/>
          </p:cNvSpPr>
          <p:nvPr/>
        </p:nvSpPr>
        <p:spPr>
          <a:xfrm>
            <a:off x="5486400" y="4972050"/>
            <a:ext cx="1809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647085"/>
                </a:solidFill>
                <a:latin typeface="Aptos"/>
                <a:ea typeface="Aptos"/>
                <a:cs typeface="Aptos"/>
              </a:defRPr>
            </a:pPr>
            <a:r>
              <a:rPr sz="675" b="0">
                <a:solidFill>
                  <a:srgbClr val="647085"/>
                </a:solidFill>
                <a:latin typeface="Aptos"/>
                <a:ea typeface="Aptos"/>
                <a:cs typeface="Aptos"/>
              </a:rPr>
              <a:t>10%, 50%, 110%, 150%</a:t>
            </a:r>
          </a:p>
        </p:txBody>
      </p:sp>
      <p:sp>
        <p:nvSpPr>
          <p:cNvPr id="20" name="Rectangle 19">
            <a:extLst>
              <a:ext uri="{FF2B5EF4-FFF2-40B4-BE49-F238E27FC236}">
                <a16:creationId xmlns:a16="http://schemas.microsoft.com/office/drawing/2014/main" id="{EC3E08F5-F6A6-4854-8B51-D9C93B3F3D52}"/>
              </a:ext>
            </a:extLst>
          </p:cNvPr>
          <p:cNvSpPr>
            <a:spLocks noGrp="1"/>
          </p:cNvSpPr>
          <p:nvPr/>
        </p:nvSpPr>
        <p:spPr>
          <a:xfrm>
            <a:off x="7734300" y="4438650"/>
            <a:ext cx="38100" cy="685800"/>
          </a:xfrm>
          <a:prstGeom prst="rect">
            <a:avLst/>
          </a:prstGeom>
          <a:solidFill>
            <a:srgbClr val="DC2626"/>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87887B7D-EED6-4B88-9529-F988B744ABA8}"/>
              </a:ext>
            </a:extLst>
          </p:cNvPr>
          <p:cNvSpPr>
            <a:spLocks noGrp="1"/>
          </p:cNvSpPr>
          <p:nvPr/>
        </p:nvSpPr>
        <p:spPr>
          <a:xfrm>
            <a:off x="7886700" y="4419600"/>
            <a:ext cx="1619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42033"/>
                </a:solidFill>
                <a:latin typeface="Aptos"/>
                <a:ea typeface="Aptos"/>
                <a:cs typeface="Aptos"/>
              </a:defRPr>
            </a:pPr>
            <a:r>
              <a:rPr sz="2100" b="1">
                <a:solidFill>
                  <a:srgbClr val="142033"/>
                </a:solidFill>
                <a:latin typeface="Aptos"/>
                <a:ea typeface="Aptos"/>
                <a:cs typeface="Aptos"/>
              </a:rPr>
              <a:t>200s</a:t>
            </a:r>
          </a:p>
        </p:txBody>
      </p:sp>
      <p:sp>
        <p:nvSpPr>
          <p:cNvPr id="22" name="Rectangle 21">
            <a:extLst>
              <a:ext uri="{FF2B5EF4-FFF2-40B4-BE49-F238E27FC236}">
                <a16:creationId xmlns:a16="http://schemas.microsoft.com/office/drawing/2014/main" id="{32375893-4717-49EF-BC85-645D977E76C5}"/>
              </a:ext>
            </a:extLst>
          </p:cNvPr>
          <p:cNvSpPr>
            <a:spLocks noGrp="1"/>
          </p:cNvSpPr>
          <p:nvPr/>
        </p:nvSpPr>
        <p:spPr>
          <a:xfrm>
            <a:off x="7886700" y="4800600"/>
            <a:ext cx="1619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647085"/>
                </a:solidFill>
                <a:latin typeface="Aptos"/>
                <a:ea typeface="Aptos"/>
                <a:cs typeface="Aptos"/>
              </a:defRPr>
            </a:pPr>
            <a:r>
              <a:rPr sz="675" b="1">
                <a:solidFill>
                  <a:srgbClr val="647085"/>
                </a:solidFill>
                <a:latin typeface="Aptos"/>
                <a:ea typeface="Aptos"/>
                <a:cs typeface="Aptos"/>
              </a:rPr>
              <a:t>RUNTIME</a:t>
            </a:r>
          </a:p>
        </p:txBody>
      </p:sp>
      <p:sp>
        <p:nvSpPr>
          <p:cNvPr id="23" name="Rectangle 22">
            <a:extLst>
              <a:ext uri="{FF2B5EF4-FFF2-40B4-BE49-F238E27FC236}">
                <a16:creationId xmlns:a16="http://schemas.microsoft.com/office/drawing/2014/main" id="{8547E649-F024-4DE3-9AA1-6C0EC487EF4A}"/>
              </a:ext>
            </a:extLst>
          </p:cNvPr>
          <p:cNvSpPr>
            <a:spLocks noGrp="1"/>
          </p:cNvSpPr>
          <p:nvPr/>
        </p:nvSpPr>
        <p:spPr>
          <a:xfrm>
            <a:off x="7886700" y="4972050"/>
            <a:ext cx="1809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647085"/>
                </a:solidFill>
                <a:latin typeface="Aptos"/>
                <a:ea typeface="Aptos"/>
                <a:cs typeface="Aptos"/>
              </a:defRPr>
            </a:pPr>
            <a:r>
              <a:rPr sz="675" b="0">
                <a:solidFill>
                  <a:srgbClr val="647085"/>
                </a:solidFill>
                <a:latin typeface="Aptos"/>
                <a:ea typeface="Aptos"/>
                <a:cs typeface="Aptos"/>
              </a:rPr>
              <a:t>one CSV row per second</a:t>
            </a:r>
          </a:p>
        </p:txBody>
      </p:sp>
      <p:sp>
        <p:nvSpPr>
          <p:cNvPr id="24" name="Rectangle 23">
            <a:extLst>
              <a:ext uri="{FF2B5EF4-FFF2-40B4-BE49-F238E27FC236}">
                <a16:creationId xmlns:a16="http://schemas.microsoft.com/office/drawing/2014/main" id="{852CA63B-F679-4674-82AF-85FAF192BDAF}"/>
              </a:ext>
            </a:extLst>
          </p:cNvPr>
          <p:cNvSpPr>
            <a:spLocks noGrp="1"/>
          </p:cNvSpPr>
          <p:nvPr/>
        </p:nvSpPr>
        <p:spPr>
          <a:xfrm>
            <a:off x="8382000" y="1352550"/>
            <a:ext cx="2762250" cy="2000250"/>
          </a:xfrm>
          <a:prstGeom prst="rect">
            <a:avLst/>
          </a:prstGeom>
          <a:solidFill>
            <a:srgbClr val="F4F8FC"/>
          </a:solidFill>
          <a:ln w="9525">
            <a:solidFill>
              <a:srgbClr val="D9E2EC"/>
            </a:solidFill>
            <a:prstDash val="solid"/>
          </a:ln>
        </p:spPr>
        <p:txBody>
          <a:bodyPr/>
          <a:lstStyle/>
          <a:p>
            <a:endParaRPr lang="en-US"/>
          </a:p>
        </p:txBody>
      </p:sp>
      <p:sp>
        <p:nvSpPr>
          <p:cNvPr id="25" name="Rectangle 24">
            <a:extLst>
              <a:ext uri="{FF2B5EF4-FFF2-40B4-BE49-F238E27FC236}">
                <a16:creationId xmlns:a16="http://schemas.microsoft.com/office/drawing/2014/main" id="{BB8FC6FC-EC2C-492D-A2D5-54E7B3D00665}"/>
              </a:ext>
            </a:extLst>
          </p:cNvPr>
          <p:cNvSpPr>
            <a:spLocks noGrp="1"/>
          </p:cNvSpPr>
          <p:nvPr/>
        </p:nvSpPr>
        <p:spPr>
          <a:xfrm>
            <a:off x="8667750" y="1657350"/>
            <a:ext cx="2095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F4E79"/>
                </a:solidFill>
                <a:latin typeface="Aptos"/>
                <a:ea typeface="Aptos"/>
                <a:cs typeface="Aptos"/>
              </a:defRPr>
            </a:pPr>
            <a:r>
              <a:rPr sz="1275" b="1">
                <a:solidFill>
                  <a:srgbClr val="1F4E79"/>
                </a:solidFill>
                <a:latin typeface="Aptos"/>
                <a:ea typeface="Aptos"/>
                <a:cs typeface="Aptos"/>
              </a:rPr>
              <a:t>Thesis</a:t>
            </a:r>
          </a:p>
        </p:txBody>
      </p:sp>
      <p:sp>
        <p:nvSpPr>
          <p:cNvPr id="26" name="Rectangle 25">
            <a:extLst>
              <a:ext uri="{FF2B5EF4-FFF2-40B4-BE49-F238E27FC236}">
                <a16:creationId xmlns:a16="http://schemas.microsoft.com/office/drawing/2014/main" id="{E2559796-7BA5-4022-9FAA-46B3A22E0F19}"/>
              </a:ext>
            </a:extLst>
          </p:cNvPr>
          <p:cNvSpPr>
            <a:spLocks noGrp="1"/>
          </p:cNvSpPr>
          <p:nvPr/>
        </p:nvSpPr>
        <p:spPr>
          <a:xfrm>
            <a:off x="8667750" y="2000250"/>
            <a:ext cx="2095500" cy="1123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42033"/>
                </a:solidFill>
                <a:latin typeface="Aptos"/>
                <a:ea typeface="Aptos"/>
                <a:cs typeface="Aptos"/>
              </a:defRPr>
            </a:pPr>
            <a:r>
              <a:rPr sz="1200" b="0">
                <a:solidFill>
                  <a:srgbClr val="142033"/>
                </a:solidFill>
                <a:latin typeface="Aptos"/>
                <a:ea typeface="Aptos"/>
                <a:cs typeface="Aptos"/>
              </a:rPr>
              <a:t>In high mobility, DSR should trust cached routes for less time. The experiment tests whether speed-scaled cache timers improve delivery.</a:t>
            </a:r>
          </a:p>
        </p:txBody>
      </p:sp>
      <p:sp>
        <p:nvSpPr>
          <p:cNvPr id="27" name="Rectangle 26">
            <a:extLst>
              <a:ext uri="{FF2B5EF4-FFF2-40B4-BE49-F238E27FC236}">
                <a16:creationId xmlns:a16="http://schemas.microsoft.com/office/drawing/2014/main" id="{804F9D79-19EB-4BE1-BB0F-289BB78CF772}"/>
              </a:ext>
            </a:extLst>
          </p:cNvPr>
          <p:cNvSpPr>
            <a:spLocks noGrp="1"/>
          </p:cNvSpPr>
          <p:nvPr/>
        </p:nvSpPr>
        <p:spPr>
          <a:xfrm>
            <a:off x="9334500" y="5962650"/>
            <a:ext cx="2286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75" b="0">
                <a:solidFill>
                  <a:srgbClr val="647085"/>
                </a:solidFill>
                <a:latin typeface="Aptos"/>
                <a:ea typeface="Aptos"/>
                <a:cs typeface="Aptos"/>
              </a:defRPr>
            </a:pPr>
            <a:r>
              <a:rPr sz="675" b="0">
                <a:solidFill>
                  <a:srgbClr val="647085"/>
                </a:solidFill>
                <a:latin typeface="Aptos"/>
                <a:ea typeface="Aptos"/>
                <a:cs typeface="Aptos"/>
              </a:rPr>
              <a:t>Adaptive DSR route cache | 01</a:t>
            </a:r>
          </a:p>
        </p:txBody>
      </p:sp>
    </p:spTree>
    <p:extLst>
      <p:ext uri="{BB962C8B-B14F-4D97-AF65-F5344CB8AC3E}">
        <p14:creationId xmlns:p14="http://schemas.microsoft.com/office/powerpoint/2010/main" val="16844572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99DF77D-3A25-49EE-BA24-1B4BB116A28D}"/>
              </a:ext>
            </a:extLst>
          </p:cNvPr>
          <p:cNvSpPr>
            <a:spLocks noGrp="1"/>
          </p:cNvSpPr>
          <p:nvPr/>
        </p:nvSpPr>
        <p:spPr>
          <a:xfrm>
            <a:off x="0" y="0"/>
            <a:ext cx="12192000" cy="6858000"/>
          </a:xfrm>
          <a:prstGeom prst="rect">
            <a:avLst/>
          </a:prstGeom>
          <a:solidFill>
            <a:srgbClr val="F7FAFD"/>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FF8248C3-2A10-4529-BC72-BFAFF222229E}"/>
              </a:ext>
            </a:extLst>
          </p:cNvPr>
          <p:cNvSpPr>
            <a:spLocks noGrp="1"/>
          </p:cNvSpPr>
          <p:nvPr/>
        </p:nvSpPr>
        <p:spPr>
          <a:xfrm>
            <a:off x="0" y="0"/>
            <a:ext cx="12192000" cy="819150"/>
          </a:xfrm>
          <a:prstGeom prst="rect">
            <a:avLst/>
          </a:prstGeom>
          <a:solidFill>
            <a:srgbClr val="FFFFF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FBE8A8F3-A23B-45A2-9E37-0101A92F3C64}"/>
              </a:ext>
            </a:extLst>
          </p:cNvPr>
          <p:cNvSpPr>
            <a:spLocks noGrp="1"/>
          </p:cNvSpPr>
          <p:nvPr/>
        </p:nvSpPr>
        <p:spPr>
          <a:xfrm>
            <a:off x="514350" y="819150"/>
            <a:ext cx="11163300" cy="9525"/>
          </a:xfrm>
          <a:prstGeom prst="rect">
            <a:avLst/>
          </a:prstGeom>
          <a:solidFill>
            <a:srgbClr val="D9E2EC"/>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D717915B-0ECB-4397-8D68-15CC0033F648}"/>
              </a:ext>
            </a:extLst>
          </p:cNvPr>
          <p:cNvSpPr>
            <a:spLocks noGrp="1"/>
          </p:cNvSpPr>
          <p:nvPr/>
        </p:nvSpPr>
        <p:spPr>
          <a:xfrm>
            <a:off x="514350" y="323850"/>
            <a:ext cx="47625" cy="266700"/>
          </a:xfrm>
          <a:prstGeom prst="rect">
            <a:avLst/>
          </a:prstGeom>
          <a:solidFill>
            <a:srgbClr val="2F80ED"/>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4FEAE548-83E8-4403-A94E-B96CDE43D39C}"/>
              </a:ext>
            </a:extLst>
          </p:cNvPr>
          <p:cNvSpPr>
            <a:spLocks noGrp="1"/>
          </p:cNvSpPr>
          <p:nvPr/>
        </p:nvSpPr>
        <p:spPr>
          <a:xfrm>
            <a:off x="704850" y="295275"/>
            <a:ext cx="2476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647085"/>
                </a:solidFill>
                <a:latin typeface="Aptos"/>
                <a:ea typeface="Aptos"/>
                <a:cs typeface="Aptos"/>
              </a:defRPr>
            </a:pPr>
            <a:r>
              <a:rPr sz="750" b="1">
                <a:solidFill>
                  <a:srgbClr val="647085"/>
                </a:solidFill>
                <a:latin typeface="Aptos"/>
                <a:ea typeface="Aptos"/>
                <a:cs typeface="Aptos"/>
              </a:rPr>
              <a:t>PROBLEM</a:t>
            </a:r>
          </a:p>
        </p:txBody>
      </p:sp>
      <p:sp>
        <p:nvSpPr>
          <p:cNvPr id="6" name="Rectangle 5">
            <a:extLst>
              <a:ext uri="{FF2B5EF4-FFF2-40B4-BE49-F238E27FC236}">
                <a16:creationId xmlns:a16="http://schemas.microsoft.com/office/drawing/2014/main" id="{10B43117-87D7-47F4-8013-AEDC5949B0EB}"/>
              </a:ext>
            </a:extLst>
          </p:cNvPr>
          <p:cNvSpPr>
            <a:spLocks noGrp="1"/>
          </p:cNvSpPr>
          <p:nvPr/>
        </p:nvSpPr>
        <p:spPr>
          <a:xfrm>
            <a:off x="704850" y="476250"/>
            <a:ext cx="92392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42033"/>
                </a:solidFill>
                <a:latin typeface="Aptos"/>
                <a:ea typeface="Aptos"/>
                <a:cs typeface="Aptos"/>
              </a:defRPr>
            </a:pPr>
            <a:r>
              <a:rPr sz="1350" b="1">
                <a:solidFill>
                  <a:srgbClr val="142033"/>
                </a:solidFill>
                <a:latin typeface="Aptos"/>
                <a:ea typeface="Aptos"/>
                <a:cs typeface="Aptos"/>
              </a:rPr>
              <a:t>DSR cache reuse is valuable until mobility turns cached routes stale.</a:t>
            </a:r>
          </a:p>
        </p:txBody>
      </p:sp>
      <p:sp>
        <p:nvSpPr>
          <p:cNvPr id="7" name="Rectangle 6">
            <a:extLst>
              <a:ext uri="{FF2B5EF4-FFF2-40B4-BE49-F238E27FC236}">
                <a16:creationId xmlns:a16="http://schemas.microsoft.com/office/drawing/2014/main" id="{75555CFD-B6E9-421D-9232-64102E564317}"/>
              </a:ext>
            </a:extLst>
          </p:cNvPr>
          <p:cNvSpPr>
            <a:spLocks noGrp="1"/>
          </p:cNvSpPr>
          <p:nvPr/>
        </p:nvSpPr>
        <p:spPr>
          <a:xfrm>
            <a:off x="9334500" y="5962650"/>
            <a:ext cx="2286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75" b="0">
                <a:solidFill>
                  <a:srgbClr val="647085"/>
                </a:solidFill>
                <a:latin typeface="Aptos"/>
                <a:ea typeface="Aptos"/>
                <a:cs typeface="Aptos"/>
              </a:defRPr>
            </a:pPr>
            <a:r>
              <a:rPr sz="675" b="0">
                <a:solidFill>
                  <a:srgbClr val="647085"/>
                </a:solidFill>
                <a:latin typeface="Aptos"/>
                <a:ea typeface="Aptos"/>
                <a:cs typeface="Aptos"/>
              </a:rPr>
              <a:t>Adaptive DSR route cache | 02</a:t>
            </a:r>
          </a:p>
        </p:txBody>
      </p:sp>
      <p:sp>
        <p:nvSpPr>
          <p:cNvPr id="8" name="Rectangle 7">
            <a:extLst>
              <a:ext uri="{FF2B5EF4-FFF2-40B4-BE49-F238E27FC236}">
                <a16:creationId xmlns:a16="http://schemas.microsoft.com/office/drawing/2014/main" id="{B79FDA5C-C544-4372-976F-FDA21CEF694D}"/>
              </a:ext>
            </a:extLst>
          </p:cNvPr>
          <p:cNvSpPr>
            <a:spLocks noGrp="1"/>
          </p:cNvSpPr>
          <p:nvPr/>
        </p:nvSpPr>
        <p:spPr>
          <a:xfrm>
            <a:off x="666750" y="1276350"/>
            <a:ext cx="4762500" cy="4095750"/>
          </a:xfrm>
          <a:prstGeom prst="rect">
            <a:avLst/>
          </a:prstGeom>
          <a:solidFill>
            <a:srgbClr val="FFFFFF"/>
          </a:solidFill>
          <a:ln w="9525">
            <a:solidFill>
              <a:srgbClr val="D9E2EC"/>
            </a:solidFill>
            <a:prstDash val="solid"/>
          </a:ln>
        </p:spPr>
        <p:txBody>
          <a:bodyPr/>
          <a:lstStyle/>
          <a:p>
            <a:endParaRPr lang="en-US"/>
          </a:p>
        </p:txBody>
      </p:sp>
      <p:sp>
        <p:nvSpPr>
          <p:cNvPr id="9" name="Rectangle 8">
            <a:extLst>
              <a:ext uri="{FF2B5EF4-FFF2-40B4-BE49-F238E27FC236}">
                <a16:creationId xmlns:a16="http://schemas.microsoft.com/office/drawing/2014/main" id="{A75FDD95-F472-4314-ADA4-1826E416F3ED}"/>
              </a:ext>
            </a:extLst>
          </p:cNvPr>
          <p:cNvSpPr>
            <a:spLocks noGrp="1"/>
          </p:cNvSpPr>
          <p:nvPr/>
        </p:nvSpPr>
        <p:spPr>
          <a:xfrm>
            <a:off x="952500" y="1543050"/>
            <a:ext cx="3429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F4E79"/>
                </a:solidFill>
                <a:latin typeface="Aptos"/>
                <a:ea typeface="Aptos"/>
                <a:cs typeface="Aptos"/>
              </a:defRPr>
            </a:pPr>
            <a:r>
              <a:rPr sz="1650" b="1">
                <a:solidFill>
                  <a:srgbClr val="1F4E79"/>
                </a:solidFill>
                <a:latin typeface="Aptos"/>
                <a:ea typeface="Aptos"/>
                <a:cs typeface="Aptos"/>
              </a:rPr>
              <a:t>Why the cache can hurt</a:t>
            </a:r>
          </a:p>
        </p:txBody>
      </p:sp>
      <p:sp>
        <p:nvSpPr>
          <p:cNvPr id="10" name="Oval 9">
            <a:extLst>
              <a:ext uri="{FF2B5EF4-FFF2-40B4-BE49-F238E27FC236}">
                <a16:creationId xmlns:a16="http://schemas.microsoft.com/office/drawing/2014/main" id="{605A5389-5734-49DC-8457-92E1F01F5C81}"/>
              </a:ext>
            </a:extLst>
          </p:cNvPr>
          <p:cNvSpPr>
            <a:spLocks noGrp="1"/>
          </p:cNvSpPr>
          <p:nvPr/>
        </p:nvSpPr>
        <p:spPr>
          <a:xfrm>
            <a:off x="1000125" y="2209800"/>
            <a:ext cx="76200" cy="76200"/>
          </a:xfrm>
          <a:prstGeom prst="ellipse">
            <a:avLst/>
          </a:prstGeom>
          <a:solidFill>
            <a:srgbClr val="2F80ED"/>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8F3F52E1-1A01-4951-BAD9-24D64D747A62}"/>
              </a:ext>
            </a:extLst>
          </p:cNvPr>
          <p:cNvSpPr>
            <a:spLocks noGrp="1"/>
          </p:cNvSpPr>
          <p:nvPr/>
        </p:nvSpPr>
        <p:spPr>
          <a:xfrm>
            <a:off x="1209675" y="2133600"/>
            <a:ext cx="423862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42033"/>
                </a:solidFill>
                <a:latin typeface="Aptos"/>
                <a:ea typeface="Aptos"/>
                <a:cs typeface="Aptos"/>
              </a:defRPr>
            </a:pPr>
            <a:r>
              <a:rPr sz="1125" b="0">
                <a:solidFill>
                  <a:srgbClr val="142033"/>
                </a:solidFill>
                <a:latin typeface="Aptos"/>
                <a:ea typeface="Aptos"/>
                <a:cs typeface="Aptos"/>
              </a:rPr>
              <a:t>DSR avoids repeated route discovery by keeping learned source routes and link state.</a:t>
            </a:r>
          </a:p>
        </p:txBody>
      </p:sp>
      <p:sp>
        <p:nvSpPr>
          <p:cNvPr id="12" name="Oval 11">
            <a:extLst>
              <a:ext uri="{FF2B5EF4-FFF2-40B4-BE49-F238E27FC236}">
                <a16:creationId xmlns:a16="http://schemas.microsoft.com/office/drawing/2014/main" id="{5E31C006-D6F8-43D4-94E2-ACAD5FD7D525}"/>
              </a:ext>
            </a:extLst>
          </p:cNvPr>
          <p:cNvSpPr>
            <a:spLocks noGrp="1"/>
          </p:cNvSpPr>
          <p:nvPr/>
        </p:nvSpPr>
        <p:spPr>
          <a:xfrm>
            <a:off x="1000125" y="2895600"/>
            <a:ext cx="76200" cy="76200"/>
          </a:xfrm>
          <a:prstGeom prst="ellipse">
            <a:avLst/>
          </a:prstGeom>
          <a:solidFill>
            <a:srgbClr val="2F80ED"/>
          </a:solidFill>
          <a:ln w="0">
            <a:solidFill>
              <a:srgbClr val="000000">
                <a:alpha val="0"/>
              </a:srgbClr>
            </a:solidFill>
            <a:prstDash val="solid"/>
          </a:ln>
        </p:spPr>
        <p:txBody>
          <a:bodyPr/>
          <a:lstStyle/>
          <a:p>
            <a:endParaRPr lang="en-US"/>
          </a:p>
        </p:txBody>
      </p:sp>
      <p:sp>
        <p:nvSpPr>
          <p:cNvPr id="13" name="Rectangle 12">
            <a:extLst>
              <a:ext uri="{FF2B5EF4-FFF2-40B4-BE49-F238E27FC236}">
                <a16:creationId xmlns:a16="http://schemas.microsoft.com/office/drawing/2014/main" id="{D7E7D3D0-439A-4732-A436-A05D7CD346A0}"/>
              </a:ext>
            </a:extLst>
          </p:cNvPr>
          <p:cNvSpPr>
            <a:spLocks noGrp="1"/>
          </p:cNvSpPr>
          <p:nvPr/>
        </p:nvSpPr>
        <p:spPr>
          <a:xfrm>
            <a:off x="1209675" y="2819400"/>
            <a:ext cx="423862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42033"/>
                </a:solidFill>
                <a:latin typeface="Aptos"/>
                <a:ea typeface="Aptos"/>
                <a:cs typeface="Aptos"/>
              </a:defRPr>
            </a:pPr>
            <a:r>
              <a:rPr sz="1125" b="0">
                <a:solidFill>
                  <a:srgbClr val="142033"/>
                </a:solidFill>
                <a:latin typeface="Aptos"/>
                <a:ea typeface="Aptos"/>
                <a:cs typeface="Aptos"/>
              </a:rPr>
              <a:t>In RandomWaypoint mobility, a route that worked earlier can point through a now-broken link.</a:t>
            </a:r>
          </a:p>
        </p:txBody>
      </p:sp>
      <p:sp>
        <p:nvSpPr>
          <p:cNvPr id="14" name="Oval 13">
            <a:extLst>
              <a:ext uri="{FF2B5EF4-FFF2-40B4-BE49-F238E27FC236}">
                <a16:creationId xmlns:a16="http://schemas.microsoft.com/office/drawing/2014/main" id="{8809FBB7-AD6F-4930-9E82-C79A975F0748}"/>
              </a:ext>
            </a:extLst>
          </p:cNvPr>
          <p:cNvSpPr>
            <a:spLocks noGrp="1"/>
          </p:cNvSpPr>
          <p:nvPr/>
        </p:nvSpPr>
        <p:spPr>
          <a:xfrm>
            <a:off x="1000125" y="3752850"/>
            <a:ext cx="76200" cy="76200"/>
          </a:xfrm>
          <a:prstGeom prst="ellipse">
            <a:avLst/>
          </a:prstGeom>
          <a:solidFill>
            <a:srgbClr val="2F80ED"/>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04B35BD0-1953-4F25-81C2-B400D1D1B43C}"/>
              </a:ext>
            </a:extLst>
          </p:cNvPr>
          <p:cNvSpPr>
            <a:spLocks noGrp="1"/>
          </p:cNvSpPr>
          <p:nvPr/>
        </p:nvSpPr>
        <p:spPr>
          <a:xfrm>
            <a:off x="1209675" y="3676650"/>
            <a:ext cx="423862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42033"/>
                </a:solidFill>
                <a:latin typeface="Aptos"/>
                <a:ea typeface="Aptos"/>
                <a:cs typeface="Aptos"/>
              </a:defRPr>
            </a:pPr>
            <a:r>
              <a:rPr sz="1125" b="0">
                <a:solidFill>
                  <a:srgbClr val="142033"/>
                </a:solidFill>
                <a:latin typeface="Aptos"/>
                <a:ea typeface="Aptos"/>
                <a:cs typeface="Aptos"/>
              </a:rPr>
              <a:t>Long cache lifetimes can keep stale state alive long enough to drop packets before repair.</a:t>
            </a:r>
          </a:p>
        </p:txBody>
      </p:sp>
      <p:sp>
        <p:nvSpPr>
          <p:cNvPr id="16" name="Rectangle 15">
            <a:extLst>
              <a:ext uri="{FF2B5EF4-FFF2-40B4-BE49-F238E27FC236}">
                <a16:creationId xmlns:a16="http://schemas.microsoft.com/office/drawing/2014/main" id="{D74408B0-5B46-4AA4-804D-64E11A3077BE}"/>
              </a:ext>
            </a:extLst>
          </p:cNvPr>
          <p:cNvSpPr>
            <a:spLocks noGrp="1"/>
          </p:cNvSpPr>
          <p:nvPr/>
        </p:nvSpPr>
        <p:spPr>
          <a:xfrm>
            <a:off x="5905500" y="1504950"/>
            <a:ext cx="4762500" cy="2857500"/>
          </a:xfrm>
          <a:prstGeom prst="rect">
            <a:avLst/>
          </a:prstGeom>
          <a:solidFill>
            <a:srgbClr val="F4F8FC"/>
          </a:solidFill>
          <a:ln w="9525">
            <a:solidFill>
              <a:srgbClr val="D9E2EC"/>
            </a:solidFill>
            <a:prstDash val="solid"/>
          </a:ln>
        </p:spPr>
        <p:txBody>
          <a:bodyPr/>
          <a:lstStyle/>
          <a:p>
            <a:endParaRPr lang="en-US"/>
          </a:p>
        </p:txBody>
      </p:sp>
      <p:sp>
        <p:nvSpPr>
          <p:cNvPr id="17" name="Rectangle 16">
            <a:extLst>
              <a:ext uri="{FF2B5EF4-FFF2-40B4-BE49-F238E27FC236}">
                <a16:creationId xmlns:a16="http://schemas.microsoft.com/office/drawing/2014/main" id="{60AECEAC-E030-4666-827C-6398F99071EE}"/>
              </a:ext>
            </a:extLst>
          </p:cNvPr>
          <p:cNvSpPr>
            <a:spLocks noGrp="1"/>
          </p:cNvSpPr>
          <p:nvPr/>
        </p:nvSpPr>
        <p:spPr>
          <a:xfrm>
            <a:off x="6286500" y="1866900"/>
            <a:ext cx="37147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142033"/>
                </a:solidFill>
                <a:latin typeface="Aptos"/>
                <a:ea typeface="Aptos"/>
                <a:cs typeface="Aptos"/>
              </a:defRPr>
            </a:pPr>
            <a:r>
              <a:rPr sz="1875" b="1">
                <a:solidFill>
                  <a:srgbClr val="142033"/>
                </a:solidFill>
                <a:latin typeface="Aptos"/>
                <a:ea typeface="Aptos"/>
                <a:cs typeface="Aptos"/>
              </a:rPr>
              <a:t>Adapt cache trust to movement</a:t>
            </a:r>
          </a:p>
        </p:txBody>
      </p:sp>
      <p:sp>
        <p:nvSpPr>
          <p:cNvPr id="18" name="Rectangle 17">
            <a:extLst>
              <a:ext uri="{FF2B5EF4-FFF2-40B4-BE49-F238E27FC236}">
                <a16:creationId xmlns:a16="http://schemas.microsoft.com/office/drawing/2014/main" id="{A5092420-8D36-4133-9F06-3D0F4D4B7DAF}"/>
              </a:ext>
            </a:extLst>
          </p:cNvPr>
          <p:cNvSpPr>
            <a:spLocks noGrp="1"/>
          </p:cNvSpPr>
          <p:nvPr/>
        </p:nvSpPr>
        <p:spPr>
          <a:xfrm>
            <a:off x="6286500" y="2381250"/>
            <a:ext cx="3619500" cy="762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647085"/>
                </a:solidFill>
                <a:latin typeface="Aptos"/>
                <a:ea typeface="Aptos"/>
                <a:cs typeface="Aptos"/>
              </a:defRPr>
            </a:pPr>
            <a:r>
              <a:rPr sz="1350" b="0">
                <a:solidFill>
                  <a:srgbClr val="647085"/>
                </a:solidFill>
                <a:latin typeface="Aptos"/>
                <a:ea typeface="Aptos"/>
                <a:cs typeface="Aptos"/>
              </a:rPr>
              <a:t>The experiment keeps the default MANET scenario and metrics, but computes cache timers from node speed before installing DSR.</a:t>
            </a:r>
          </a:p>
        </p:txBody>
      </p:sp>
      <p:sp>
        <p:nvSpPr>
          <p:cNvPr id="19" name="Rectangle 18">
            <a:extLst>
              <a:ext uri="{FF2B5EF4-FFF2-40B4-BE49-F238E27FC236}">
                <a16:creationId xmlns:a16="http://schemas.microsoft.com/office/drawing/2014/main" id="{217D6489-B5B4-4E6B-8C81-F85590CC5914}"/>
              </a:ext>
            </a:extLst>
          </p:cNvPr>
          <p:cNvSpPr>
            <a:spLocks noGrp="1"/>
          </p:cNvSpPr>
          <p:nvPr/>
        </p:nvSpPr>
        <p:spPr>
          <a:xfrm>
            <a:off x="6286500" y="3448050"/>
            <a:ext cx="36195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2F80ED"/>
                </a:solidFill>
                <a:latin typeface="Aptos"/>
                <a:ea typeface="Aptos"/>
                <a:cs typeface="Aptos"/>
              </a:defRPr>
            </a:pPr>
            <a:r>
              <a:rPr sz="1500" b="1">
                <a:solidFill>
                  <a:srgbClr val="2F80ED"/>
                </a:solidFill>
                <a:latin typeface="Aptos"/>
                <a:ea typeface="Aptos"/>
                <a:cs typeface="Aptos"/>
              </a:rPr>
              <a:t>Higher node speed -&gt; shorter route and link stability timers</a:t>
            </a:r>
          </a:p>
        </p:txBody>
      </p:sp>
    </p:spTree>
    <p:extLst>
      <p:ext uri="{BB962C8B-B14F-4D97-AF65-F5344CB8AC3E}">
        <p14:creationId xmlns:p14="http://schemas.microsoft.com/office/powerpoint/2010/main" val="800858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EFA0D36F-6828-49DE-BD60-F2F74BD0DEC7}"/>
              </a:ext>
            </a:extLst>
          </p:cNvPr>
          <p:cNvSpPr>
            <a:spLocks noGrp="1"/>
          </p:cNvSpPr>
          <p:nvPr/>
        </p:nvSpPr>
        <p:spPr>
          <a:xfrm>
            <a:off x="0" y="0"/>
            <a:ext cx="12192000" cy="6858000"/>
          </a:xfrm>
          <a:prstGeom prst="rect">
            <a:avLst/>
          </a:prstGeom>
          <a:solidFill>
            <a:srgbClr val="F7FAFD"/>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AE776303-2F30-4270-9817-7DBBDC874F92}"/>
              </a:ext>
            </a:extLst>
          </p:cNvPr>
          <p:cNvSpPr>
            <a:spLocks noGrp="1"/>
          </p:cNvSpPr>
          <p:nvPr/>
        </p:nvSpPr>
        <p:spPr>
          <a:xfrm>
            <a:off x="0" y="0"/>
            <a:ext cx="12192000" cy="819150"/>
          </a:xfrm>
          <a:prstGeom prst="rect">
            <a:avLst/>
          </a:prstGeom>
          <a:solidFill>
            <a:srgbClr val="FFFFF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2B6728F0-7039-4B52-9F69-541D4B935F56}"/>
              </a:ext>
            </a:extLst>
          </p:cNvPr>
          <p:cNvSpPr>
            <a:spLocks noGrp="1"/>
          </p:cNvSpPr>
          <p:nvPr/>
        </p:nvSpPr>
        <p:spPr>
          <a:xfrm>
            <a:off x="514350" y="819150"/>
            <a:ext cx="11163300" cy="9525"/>
          </a:xfrm>
          <a:prstGeom prst="rect">
            <a:avLst/>
          </a:prstGeom>
          <a:solidFill>
            <a:srgbClr val="D9E2EC"/>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72BDCC6B-C2EB-4DEB-8CE3-75FA38EE6ECE}"/>
              </a:ext>
            </a:extLst>
          </p:cNvPr>
          <p:cNvSpPr>
            <a:spLocks noGrp="1"/>
          </p:cNvSpPr>
          <p:nvPr/>
        </p:nvSpPr>
        <p:spPr>
          <a:xfrm>
            <a:off x="514350" y="323850"/>
            <a:ext cx="47625" cy="266700"/>
          </a:xfrm>
          <a:prstGeom prst="rect">
            <a:avLst/>
          </a:prstGeom>
          <a:solidFill>
            <a:srgbClr val="2F80ED"/>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EEC6C3F8-8DFF-47DA-81D6-20DBB5F3B39B}"/>
              </a:ext>
            </a:extLst>
          </p:cNvPr>
          <p:cNvSpPr>
            <a:spLocks noGrp="1"/>
          </p:cNvSpPr>
          <p:nvPr/>
        </p:nvSpPr>
        <p:spPr>
          <a:xfrm>
            <a:off x="704850" y="295275"/>
            <a:ext cx="2476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647085"/>
                </a:solidFill>
                <a:latin typeface="Aptos"/>
                <a:ea typeface="Aptos"/>
                <a:cs typeface="Aptos"/>
              </a:defRPr>
            </a:pPr>
            <a:r>
              <a:rPr sz="750" b="1">
                <a:solidFill>
                  <a:srgbClr val="647085"/>
                </a:solidFill>
                <a:latin typeface="Aptos"/>
                <a:ea typeface="Aptos"/>
                <a:cs typeface="Aptos"/>
              </a:rPr>
              <a:t>FORMULA</a:t>
            </a:r>
          </a:p>
        </p:txBody>
      </p:sp>
      <p:sp>
        <p:nvSpPr>
          <p:cNvPr id="6" name="Rectangle 5">
            <a:extLst>
              <a:ext uri="{FF2B5EF4-FFF2-40B4-BE49-F238E27FC236}">
                <a16:creationId xmlns:a16="http://schemas.microsoft.com/office/drawing/2014/main" id="{9C104ACC-59A4-4DC2-B7CE-FEB7BD61EA1A}"/>
              </a:ext>
            </a:extLst>
          </p:cNvPr>
          <p:cNvSpPr>
            <a:spLocks noGrp="1"/>
          </p:cNvSpPr>
          <p:nvPr/>
        </p:nvSpPr>
        <p:spPr>
          <a:xfrm>
            <a:off x="704850" y="476250"/>
            <a:ext cx="92392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42033"/>
                </a:solidFill>
                <a:latin typeface="Aptos"/>
                <a:ea typeface="Aptos"/>
                <a:cs typeface="Aptos"/>
              </a:defRPr>
            </a:pPr>
            <a:r>
              <a:rPr sz="1350" b="1">
                <a:solidFill>
                  <a:srgbClr val="142033"/>
                </a:solidFill>
                <a:latin typeface="Aptos"/>
                <a:ea typeface="Aptos"/>
                <a:cs typeface="Aptos"/>
              </a:rPr>
              <a:t>A single mobility scale converts base cache timers into effective DSR values.</a:t>
            </a:r>
          </a:p>
        </p:txBody>
      </p:sp>
      <p:sp>
        <p:nvSpPr>
          <p:cNvPr id="7" name="Rectangle 6">
            <a:extLst>
              <a:ext uri="{FF2B5EF4-FFF2-40B4-BE49-F238E27FC236}">
                <a16:creationId xmlns:a16="http://schemas.microsoft.com/office/drawing/2014/main" id="{31A16EB3-B5A2-47C4-B1A3-B91A2B8C542D}"/>
              </a:ext>
            </a:extLst>
          </p:cNvPr>
          <p:cNvSpPr>
            <a:spLocks noGrp="1"/>
          </p:cNvSpPr>
          <p:nvPr/>
        </p:nvSpPr>
        <p:spPr>
          <a:xfrm>
            <a:off x="9334500" y="5962650"/>
            <a:ext cx="2286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75" b="0">
                <a:solidFill>
                  <a:srgbClr val="647085"/>
                </a:solidFill>
                <a:latin typeface="Aptos"/>
                <a:ea typeface="Aptos"/>
                <a:cs typeface="Aptos"/>
              </a:defRPr>
            </a:pPr>
            <a:r>
              <a:rPr sz="675" b="0">
                <a:solidFill>
                  <a:srgbClr val="647085"/>
                </a:solidFill>
                <a:latin typeface="Aptos"/>
                <a:ea typeface="Aptos"/>
                <a:cs typeface="Aptos"/>
              </a:rPr>
              <a:t>Adaptive DSR route cache | 03</a:t>
            </a:r>
          </a:p>
        </p:txBody>
      </p:sp>
      <p:sp>
        <p:nvSpPr>
          <p:cNvPr id="8" name="Rectangle 7">
            <a:extLst>
              <a:ext uri="{FF2B5EF4-FFF2-40B4-BE49-F238E27FC236}">
                <a16:creationId xmlns:a16="http://schemas.microsoft.com/office/drawing/2014/main" id="{69E31581-C391-4E4C-B33C-819B5FC68759}"/>
              </a:ext>
            </a:extLst>
          </p:cNvPr>
          <p:cNvSpPr>
            <a:spLocks noGrp="1"/>
          </p:cNvSpPr>
          <p:nvPr/>
        </p:nvSpPr>
        <p:spPr>
          <a:xfrm>
            <a:off x="952500" y="1371600"/>
            <a:ext cx="100965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42033"/>
                </a:solidFill>
                <a:latin typeface="Aptos Mono"/>
                <a:ea typeface="Aptos Mono"/>
                <a:cs typeface="Aptos Mono"/>
              </a:defRPr>
            </a:pPr>
            <a:r>
              <a:rPr sz="1650" b="1">
                <a:solidFill>
                  <a:srgbClr val="142033"/>
                </a:solidFill>
                <a:latin typeface="Aptos Mono"/>
                <a:ea typeface="Aptos Mono"/>
                <a:cs typeface="Aptos Mono"/>
              </a:rPr>
              <a:t>adaptive_value = clamp(base_value * cache_reference_speed / node_speed, min_value, max_value)</a:t>
            </a:r>
          </a:p>
        </p:txBody>
      </p:sp>
      <p:sp>
        <p:nvSpPr>
          <p:cNvPr id="9" name="Rectangle 8">
            <a:extLst>
              <a:ext uri="{FF2B5EF4-FFF2-40B4-BE49-F238E27FC236}">
                <a16:creationId xmlns:a16="http://schemas.microsoft.com/office/drawing/2014/main" id="{BDB0CE29-35BF-41CA-987B-9A07F51413F9}"/>
              </a:ext>
            </a:extLst>
          </p:cNvPr>
          <p:cNvSpPr>
            <a:spLocks noGrp="1"/>
          </p:cNvSpPr>
          <p:nvPr/>
        </p:nvSpPr>
        <p:spPr>
          <a:xfrm>
            <a:off x="914400" y="2133600"/>
            <a:ext cx="4476750" cy="2724150"/>
          </a:xfrm>
          <a:prstGeom prst="rect">
            <a:avLst/>
          </a:prstGeom>
          <a:solidFill>
            <a:srgbClr val="FFFFFF"/>
          </a:solidFill>
          <a:ln w="9525">
            <a:solidFill>
              <a:srgbClr val="D9E2EC"/>
            </a:solidFill>
            <a:prstDash val="solid"/>
          </a:ln>
        </p:spPr>
        <p:txBody>
          <a:bodyPr/>
          <a:lstStyle/>
          <a:p>
            <a:endParaRPr lang="en-US"/>
          </a:p>
        </p:txBody>
      </p:sp>
      <p:sp>
        <p:nvSpPr>
          <p:cNvPr id="10" name="Rectangle 9">
            <a:extLst>
              <a:ext uri="{FF2B5EF4-FFF2-40B4-BE49-F238E27FC236}">
                <a16:creationId xmlns:a16="http://schemas.microsoft.com/office/drawing/2014/main" id="{A3AEC9BE-2CC7-449B-ABC0-1E6859237D6B}"/>
              </a:ext>
            </a:extLst>
          </p:cNvPr>
          <p:cNvSpPr>
            <a:spLocks noGrp="1"/>
          </p:cNvSpPr>
          <p:nvPr/>
        </p:nvSpPr>
        <p:spPr>
          <a:xfrm>
            <a:off x="1200150" y="2400300"/>
            <a:ext cx="3429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F4E79"/>
                </a:solidFill>
                <a:latin typeface="Aptos"/>
                <a:ea typeface="Aptos"/>
                <a:cs typeface="Aptos"/>
              </a:defRPr>
            </a:pPr>
            <a:r>
              <a:rPr sz="1650" b="1">
                <a:solidFill>
                  <a:srgbClr val="1F4E79"/>
                </a:solidFill>
                <a:latin typeface="Aptos"/>
                <a:ea typeface="Aptos"/>
                <a:cs typeface="Aptos"/>
              </a:rPr>
              <a:t>Formula variables</a:t>
            </a:r>
          </a:p>
        </p:txBody>
      </p:sp>
      <p:sp>
        <p:nvSpPr>
          <p:cNvPr id="11" name="Rectangle 10">
            <a:extLst>
              <a:ext uri="{FF2B5EF4-FFF2-40B4-BE49-F238E27FC236}">
                <a16:creationId xmlns:a16="http://schemas.microsoft.com/office/drawing/2014/main" id="{9F2081CA-1683-4280-9DF8-601F61815D64}"/>
              </a:ext>
            </a:extLst>
          </p:cNvPr>
          <p:cNvSpPr>
            <a:spLocks noGrp="1"/>
          </p:cNvSpPr>
          <p:nvPr/>
        </p:nvSpPr>
        <p:spPr>
          <a:xfrm>
            <a:off x="1200150" y="2914650"/>
            <a:ext cx="3714750" cy="1485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42033"/>
                </a:solidFill>
                <a:latin typeface="Aptos"/>
                <a:ea typeface="Aptos"/>
                <a:cs typeface="Aptos"/>
              </a:defRPr>
            </a:pPr>
            <a:r>
              <a:rPr sz="1200" b="0">
                <a:solidFill>
                  <a:srgbClr val="142033"/>
                </a:solidFill>
                <a:latin typeface="Aptos"/>
                <a:ea typeface="Aptos"/>
                <a:cs typeface="Aptos"/>
              </a:rPr>
              <a:t>base_value: original timer multiplied by the sweep percentage</a:t>
            </a:r>
          </a:p>
          <a:p>
            <a:pPr algn="l">
              <a:defRPr sz="1200" b="0">
                <a:solidFill>
                  <a:srgbClr val="142033"/>
                </a:solidFill>
                <a:latin typeface="Aptos"/>
                <a:ea typeface="Aptos"/>
                <a:cs typeface="Aptos"/>
              </a:defRPr>
            </a:pPr>
            <a:r>
              <a:rPr sz="1200" b="0">
                <a:solidFill>
                  <a:srgbClr val="142033"/>
                </a:solidFill>
                <a:latin typeface="Aptos"/>
                <a:ea typeface="Aptos"/>
                <a:cs typeface="Aptos"/>
              </a:rPr>
              <a:t>cache_reference_speed: speed where base timers are preserved, 5 m/s</a:t>
            </a:r>
          </a:p>
          <a:p>
            <a:pPr algn="l">
              <a:defRPr sz="1200" b="0">
                <a:solidFill>
                  <a:srgbClr val="142033"/>
                </a:solidFill>
                <a:latin typeface="Aptos"/>
                <a:ea typeface="Aptos"/>
                <a:cs typeface="Aptos"/>
              </a:defRPr>
            </a:pPr>
            <a:r>
              <a:rPr sz="1200" b="0">
                <a:solidFill>
                  <a:srgbClr val="142033"/>
                </a:solidFill>
                <a:latin typeface="Aptos"/>
                <a:ea typeface="Aptos"/>
                <a:cs typeface="Aptos"/>
              </a:rPr>
              <a:t>node_speed: scenario speed used for cache trust, 20 m/s</a:t>
            </a:r>
          </a:p>
          <a:p>
            <a:pPr algn="l">
              <a:defRPr sz="1200" b="0">
                <a:solidFill>
                  <a:srgbClr val="142033"/>
                </a:solidFill>
                <a:latin typeface="Aptos"/>
                <a:ea typeface="Aptos"/>
                <a:cs typeface="Aptos"/>
              </a:defRPr>
            </a:pPr>
            <a:r>
              <a:rPr sz="1200" b="0">
                <a:solidFill>
                  <a:srgbClr val="142033"/>
                </a:solidFill>
                <a:latin typeface="Aptos"/>
                <a:ea typeface="Aptos"/>
                <a:cs typeface="Aptos"/>
              </a:rPr>
              <a:t>clamp: keeps timers inside configured safety bounds</a:t>
            </a:r>
          </a:p>
        </p:txBody>
      </p:sp>
      <p:sp>
        <p:nvSpPr>
          <p:cNvPr id="12" name="Rectangle 11">
            <a:extLst>
              <a:ext uri="{FF2B5EF4-FFF2-40B4-BE49-F238E27FC236}">
                <a16:creationId xmlns:a16="http://schemas.microsoft.com/office/drawing/2014/main" id="{3759D87C-3DDE-4A86-AD9B-4A3E19BFE672}"/>
              </a:ext>
            </a:extLst>
          </p:cNvPr>
          <p:cNvSpPr>
            <a:spLocks noGrp="1"/>
          </p:cNvSpPr>
          <p:nvPr/>
        </p:nvSpPr>
        <p:spPr>
          <a:xfrm>
            <a:off x="6048375" y="2133600"/>
            <a:ext cx="4381500" cy="2724150"/>
          </a:xfrm>
          <a:prstGeom prst="rect">
            <a:avLst/>
          </a:prstGeom>
          <a:solidFill>
            <a:srgbClr val="F4F8FC"/>
          </a:solidFill>
          <a:ln w="9525">
            <a:solidFill>
              <a:srgbClr val="D9E2EC"/>
            </a:solidFill>
            <a:prstDash val="solid"/>
          </a:ln>
        </p:spPr>
        <p:txBody>
          <a:bodyPr/>
          <a:lstStyle/>
          <a:p>
            <a:endParaRPr lang="en-US"/>
          </a:p>
        </p:txBody>
      </p:sp>
      <p:sp>
        <p:nvSpPr>
          <p:cNvPr id="13" name="Rectangle 12">
            <a:extLst>
              <a:ext uri="{FF2B5EF4-FFF2-40B4-BE49-F238E27FC236}">
                <a16:creationId xmlns:a16="http://schemas.microsoft.com/office/drawing/2014/main" id="{0DD2B17F-55DC-4D74-B509-69ABB56A6583}"/>
              </a:ext>
            </a:extLst>
          </p:cNvPr>
          <p:cNvSpPr>
            <a:spLocks noGrp="1"/>
          </p:cNvSpPr>
          <p:nvPr/>
        </p:nvSpPr>
        <p:spPr>
          <a:xfrm>
            <a:off x="6381750" y="2400300"/>
            <a:ext cx="3429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F4E79"/>
                </a:solidFill>
                <a:latin typeface="Aptos"/>
                <a:ea typeface="Aptos"/>
                <a:cs typeface="Aptos"/>
              </a:defRPr>
            </a:pPr>
            <a:r>
              <a:rPr sz="1650" b="1">
                <a:solidFill>
                  <a:srgbClr val="1F4E79"/>
                </a:solidFill>
                <a:latin typeface="Aptos"/>
                <a:ea typeface="Aptos"/>
                <a:cs typeface="Aptos"/>
              </a:rPr>
              <a:t>This sweep used a 0.25 mobility scale</a:t>
            </a:r>
          </a:p>
        </p:txBody>
      </p:sp>
      <p:sp>
        <p:nvSpPr>
          <p:cNvPr id="14" name="Rectangle 13">
            <a:extLst>
              <a:ext uri="{FF2B5EF4-FFF2-40B4-BE49-F238E27FC236}">
                <a16:creationId xmlns:a16="http://schemas.microsoft.com/office/drawing/2014/main" id="{969E2354-D7A1-445E-B8BB-29784A69B8A2}"/>
              </a:ext>
            </a:extLst>
          </p:cNvPr>
          <p:cNvSpPr>
            <a:spLocks noGrp="1"/>
          </p:cNvSpPr>
          <p:nvPr/>
        </p:nvSpPr>
        <p:spPr>
          <a:xfrm>
            <a:off x="6381750" y="2914650"/>
            <a:ext cx="34290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2F80ED"/>
                </a:solidFill>
                <a:latin typeface="Aptos"/>
                <a:ea typeface="Aptos"/>
                <a:cs typeface="Aptos"/>
              </a:defRPr>
            </a:pPr>
            <a:r>
              <a:rPr sz="1350" b="1">
                <a:solidFill>
                  <a:srgbClr val="2F80ED"/>
                </a:solidFill>
                <a:latin typeface="Aptos"/>
                <a:ea typeface="Aptos"/>
                <a:cs typeface="Aptos"/>
              </a:rPr>
              <a:t>cache_reference_speed / node_speed = 5 / 20 = 0.25</a:t>
            </a:r>
          </a:p>
        </p:txBody>
      </p:sp>
      <p:sp>
        <p:nvSpPr>
          <p:cNvPr id="15" name="Rectangle 14">
            <a:extLst>
              <a:ext uri="{FF2B5EF4-FFF2-40B4-BE49-F238E27FC236}">
                <a16:creationId xmlns:a16="http://schemas.microsoft.com/office/drawing/2014/main" id="{E423BF32-2A99-409B-AA88-B9AF64333750}"/>
              </a:ext>
            </a:extLst>
          </p:cNvPr>
          <p:cNvSpPr>
            <a:spLocks noGrp="1"/>
          </p:cNvSpPr>
          <p:nvPr/>
        </p:nvSpPr>
        <p:spPr>
          <a:xfrm>
            <a:off x="6381750" y="3429000"/>
            <a:ext cx="338137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42033"/>
                </a:solidFill>
                <a:latin typeface="Aptos"/>
                <a:ea typeface="Aptos"/>
                <a:cs typeface="Aptos"/>
              </a:defRPr>
            </a:pPr>
            <a:r>
              <a:rPr sz="1275" b="0">
                <a:solidFill>
                  <a:srgbClr val="142033"/>
                </a:solidFill>
                <a:latin typeface="Aptos"/>
                <a:ea typeface="Aptos"/>
                <a:cs typeface="Aptos"/>
              </a:rPr>
              <a:t>Example: the 50% timeout starts at 150 s, then becomes clamp(150 * 0.25, 30, 300) = 37.5 s.</a:t>
            </a:r>
          </a:p>
        </p:txBody>
      </p:sp>
      <p:sp>
        <p:nvSpPr>
          <p:cNvPr id="16" name="Rectangle 15">
            <a:extLst>
              <a:ext uri="{FF2B5EF4-FFF2-40B4-BE49-F238E27FC236}">
                <a16:creationId xmlns:a16="http://schemas.microsoft.com/office/drawing/2014/main" id="{8A13BD07-285B-4F52-891C-57BBC4890A8A}"/>
              </a:ext>
            </a:extLst>
          </p:cNvPr>
          <p:cNvSpPr>
            <a:spLocks noGrp="1"/>
          </p:cNvSpPr>
          <p:nvPr/>
        </p:nvSpPr>
        <p:spPr>
          <a:xfrm>
            <a:off x="1047750" y="5295900"/>
            <a:ext cx="38100" cy="685800"/>
          </a:xfrm>
          <a:prstGeom prst="rect">
            <a:avLst/>
          </a:prstGeom>
          <a:solidFill>
            <a:srgbClr val="2F80ED"/>
          </a:solidFill>
          <a:ln w="0">
            <a:solidFill>
              <a:srgbClr val="000000">
                <a:alpha val="0"/>
              </a:srgbClr>
            </a:solidFill>
            <a:prstDash val="solid"/>
          </a:ln>
        </p:spPr>
        <p:txBody>
          <a:bodyPr/>
          <a:lstStyle/>
          <a:p>
            <a:endParaRPr lang="en-US"/>
          </a:p>
        </p:txBody>
      </p:sp>
      <p:sp>
        <p:nvSpPr>
          <p:cNvPr id="17" name="Rectangle 16">
            <a:extLst>
              <a:ext uri="{FF2B5EF4-FFF2-40B4-BE49-F238E27FC236}">
                <a16:creationId xmlns:a16="http://schemas.microsoft.com/office/drawing/2014/main" id="{EAEFEACE-7580-4EE7-839D-47225BF8B2BE}"/>
              </a:ext>
            </a:extLst>
          </p:cNvPr>
          <p:cNvSpPr>
            <a:spLocks noGrp="1"/>
          </p:cNvSpPr>
          <p:nvPr/>
        </p:nvSpPr>
        <p:spPr>
          <a:xfrm>
            <a:off x="1200150" y="5276850"/>
            <a:ext cx="1619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42033"/>
                </a:solidFill>
                <a:latin typeface="Aptos"/>
                <a:ea typeface="Aptos"/>
                <a:cs typeface="Aptos"/>
              </a:defRPr>
            </a:pPr>
            <a:r>
              <a:rPr sz="2100" b="1">
                <a:solidFill>
                  <a:srgbClr val="142033"/>
                </a:solidFill>
                <a:latin typeface="Aptos"/>
                <a:ea typeface="Aptos"/>
                <a:cs typeface="Aptos"/>
              </a:rPr>
              <a:t>30-300s</a:t>
            </a:r>
          </a:p>
        </p:txBody>
      </p:sp>
      <p:sp>
        <p:nvSpPr>
          <p:cNvPr id="18" name="Rectangle 17">
            <a:extLst>
              <a:ext uri="{FF2B5EF4-FFF2-40B4-BE49-F238E27FC236}">
                <a16:creationId xmlns:a16="http://schemas.microsoft.com/office/drawing/2014/main" id="{F6429ED9-06CD-4D0B-8C0D-F0C3951B1AC8}"/>
              </a:ext>
            </a:extLst>
          </p:cNvPr>
          <p:cNvSpPr>
            <a:spLocks noGrp="1"/>
          </p:cNvSpPr>
          <p:nvPr/>
        </p:nvSpPr>
        <p:spPr>
          <a:xfrm>
            <a:off x="1200150" y="5657850"/>
            <a:ext cx="1619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647085"/>
                </a:solidFill>
                <a:latin typeface="Aptos"/>
                <a:ea typeface="Aptos"/>
                <a:cs typeface="Aptos"/>
              </a:defRPr>
            </a:pPr>
            <a:r>
              <a:rPr sz="675" b="1">
                <a:solidFill>
                  <a:srgbClr val="647085"/>
                </a:solidFill>
                <a:latin typeface="Aptos"/>
                <a:ea typeface="Aptos"/>
                <a:cs typeface="Aptos"/>
              </a:rPr>
              <a:t>ROUTECACHETIMEOUT</a:t>
            </a:r>
          </a:p>
        </p:txBody>
      </p:sp>
      <p:sp>
        <p:nvSpPr>
          <p:cNvPr id="19" name="Rectangle 18">
            <a:extLst>
              <a:ext uri="{FF2B5EF4-FFF2-40B4-BE49-F238E27FC236}">
                <a16:creationId xmlns:a16="http://schemas.microsoft.com/office/drawing/2014/main" id="{3408F237-4C8E-4D60-A8F3-88489F3F4FE6}"/>
              </a:ext>
            </a:extLst>
          </p:cNvPr>
          <p:cNvSpPr>
            <a:spLocks noGrp="1"/>
          </p:cNvSpPr>
          <p:nvPr/>
        </p:nvSpPr>
        <p:spPr>
          <a:xfrm>
            <a:off x="1200150" y="5829300"/>
            <a:ext cx="1809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647085"/>
                </a:solidFill>
                <a:latin typeface="Aptos"/>
                <a:ea typeface="Aptos"/>
                <a:cs typeface="Aptos"/>
              </a:defRPr>
            </a:pPr>
            <a:r>
              <a:rPr sz="675" b="0">
                <a:solidFill>
                  <a:srgbClr val="647085"/>
                </a:solidFill>
                <a:latin typeface="Aptos"/>
                <a:ea typeface="Aptos"/>
                <a:cs typeface="Aptos"/>
              </a:rPr>
              <a:t>route lifetime bounds</a:t>
            </a:r>
          </a:p>
        </p:txBody>
      </p:sp>
      <p:sp>
        <p:nvSpPr>
          <p:cNvPr id="20" name="Rectangle 19">
            <a:extLst>
              <a:ext uri="{FF2B5EF4-FFF2-40B4-BE49-F238E27FC236}">
                <a16:creationId xmlns:a16="http://schemas.microsoft.com/office/drawing/2014/main" id="{06D4BE46-D5A6-4BC3-A44B-D215A9783C6C}"/>
              </a:ext>
            </a:extLst>
          </p:cNvPr>
          <p:cNvSpPr>
            <a:spLocks noGrp="1"/>
          </p:cNvSpPr>
          <p:nvPr/>
        </p:nvSpPr>
        <p:spPr>
          <a:xfrm>
            <a:off x="3810000" y="5295900"/>
            <a:ext cx="38100" cy="685800"/>
          </a:xfrm>
          <a:prstGeom prst="rect">
            <a:avLst/>
          </a:prstGeom>
          <a:solidFill>
            <a:srgbClr val="00A676"/>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3E76A254-4EBE-4EB6-B6F1-3BA74E196E57}"/>
              </a:ext>
            </a:extLst>
          </p:cNvPr>
          <p:cNvSpPr>
            <a:spLocks noGrp="1"/>
          </p:cNvSpPr>
          <p:nvPr/>
        </p:nvSpPr>
        <p:spPr>
          <a:xfrm>
            <a:off x="3962400" y="5276850"/>
            <a:ext cx="1619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42033"/>
                </a:solidFill>
                <a:latin typeface="Aptos"/>
                <a:ea typeface="Aptos"/>
                <a:cs typeface="Aptos"/>
              </a:defRPr>
            </a:pPr>
            <a:r>
              <a:rPr sz="2100" b="1">
                <a:solidFill>
                  <a:srgbClr val="142033"/>
                </a:solidFill>
                <a:latin typeface="Aptos"/>
                <a:ea typeface="Aptos"/>
                <a:cs typeface="Aptos"/>
              </a:rPr>
              <a:t>2-25s</a:t>
            </a:r>
          </a:p>
        </p:txBody>
      </p:sp>
      <p:sp>
        <p:nvSpPr>
          <p:cNvPr id="22" name="Rectangle 21">
            <a:extLst>
              <a:ext uri="{FF2B5EF4-FFF2-40B4-BE49-F238E27FC236}">
                <a16:creationId xmlns:a16="http://schemas.microsoft.com/office/drawing/2014/main" id="{F18F8BA5-D8E0-4790-9BF5-B76CD639E974}"/>
              </a:ext>
            </a:extLst>
          </p:cNvPr>
          <p:cNvSpPr>
            <a:spLocks noGrp="1"/>
          </p:cNvSpPr>
          <p:nvPr/>
        </p:nvSpPr>
        <p:spPr>
          <a:xfrm>
            <a:off x="3962400" y="5657850"/>
            <a:ext cx="1619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647085"/>
                </a:solidFill>
                <a:latin typeface="Aptos"/>
                <a:ea typeface="Aptos"/>
                <a:cs typeface="Aptos"/>
              </a:defRPr>
            </a:pPr>
            <a:r>
              <a:rPr sz="675" b="1">
                <a:solidFill>
                  <a:srgbClr val="647085"/>
                </a:solidFill>
                <a:latin typeface="Aptos"/>
                <a:ea typeface="Aptos"/>
                <a:cs typeface="Aptos"/>
              </a:rPr>
              <a:t>INITSTABILITY</a:t>
            </a:r>
          </a:p>
        </p:txBody>
      </p:sp>
      <p:sp>
        <p:nvSpPr>
          <p:cNvPr id="23" name="Rectangle 22">
            <a:extLst>
              <a:ext uri="{FF2B5EF4-FFF2-40B4-BE49-F238E27FC236}">
                <a16:creationId xmlns:a16="http://schemas.microsoft.com/office/drawing/2014/main" id="{3544EC69-3DAE-40B8-A8B2-C503B01CCBC6}"/>
              </a:ext>
            </a:extLst>
          </p:cNvPr>
          <p:cNvSpPr>
            <a:spLocks noGrp="1"/>
          </p:cNvSpPr>
          <p:nvPr/>
        </p:nvSpPr>
        <p:spPr>
          <a:xfrm>
            <a:off x="3962400" y="5829300"/>
            <a:ext cx="1809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647085"/>
                </a:solidFill>
                <a:latin typeface="Aptos"/>
                <a:ea typeface="Aptos"/>
                <a:cs typeface="Aptos"/>
              </a:defRPr>
            </a:pPr>
            <a:r>
              <a:rPr sz="675" b="0">
                <a:solidFill>
                  <a:srgbClr val="647085"/>
                </a:solidFill>
                <a:latin typeface="Aptos"/>
                <a:ea typeface="Aptos"/>
                <a:cs typeface="Aptos"/>
              </a:rPr>
              <a:t>new link confidence</a:t>
            </a:r>
          </a:p>
        </p:txBody>
      </p:sp>
      <p:sp>
        <p:nvSpPr>
          <p:cNvPr id="24" name="Rectangle 23">
            <a:extLst>
              <a:ext uri="{FF2B5EF4-FFF2-40B4-BE49-F238E27FC236}">
                <a16:creationId xmlns:a16="http://schemas.microsoft.com/office/drawing/2014/main" id="{4E645D2F-4FC7-421A-8C30-A4C2122B9DD5}"/>
              </a:ext>
            </a:extLst>
          </p:cNvPr>
          <p:cNvSpPr>
            <a:spLocks noGrp="1"/>
          </p:cNvSpPr>
          <p:nvPr/>
        </p:nvSpPr>
        <p:spPr>
          <a:xfrm>
            <a:off x="6477000" y="5295900"/>
            <a:ext cx="38100" cy="685800"/>
          </a:xfrm>
          <a:prstGeom prst="rect">
            <a:avLst/>
          </a:prstGeom>
          <a:solidFill>
            <a:srgbClr val="F59E0B"/>
          </a:solidFill>
          <a:ln w="0">
            <a:solidFill>
              <a:srgbClr val="000000">
                <a:alpha val="0"/>
              </a:srgbClr>
            </a:solidFill>
            <a:prstDash val="solid"/>
          </a:ln>
        </p:spPr>
        <p:txBody>
          <a:bodyPr/>
          <a:lstStyle/>
          <a:p>
            <a:endParaRPr lang="en-US"/>
          </a:p>
        </p:txBody>
      </p:sp>
      <p:sp>
        <p:nvSpPr>
          <p:cNvPr id="25" name="Rectangle 24">
            <a:extLst>
              <a:ext uri="{FF2B5EF4-FFF2-40B4-BE49-F238E27FC236}">
                <a16:creationId xmlns:a16="http://schemas.microsoft.com/office/drawing/2014/main" id="{F366F302-5193-4C0A-A59A-117A74D580F2}"/>
              </a:ext>
            </a:extLst>
          </p:cNvPr>
          <p:cNvSpPr>
            <a:spLocks noGrp="1"/>
          </p:cNvSpPr>
          <p:nvPr/>
        </p:nvSpPr>
        <p:spPr>
          <a:xfrm>
            <a:off x="6629400" y="5276850"/>
            <a:ext cx="1619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42033"/>
                </a:solidFill>
                <a:latin typeface="Aptos"/>
                <a:ea typeface="Aptos"/>
                <a:cs typeface="Aptos"/>
              </a:defRPr>
            </a:pPr>
            <a:r>
              <a:rPr sz="2100" b="1">
                <a:solidFill>
                  <a:srgbClr val="142033"/>
                </a:solidFill>
                <a:latin typeface="Aptos"/>
                <a:ea typeface="Aptos"/>
                <a:cs typeface="Aptos"/>
              </a:rPr>
              <a:t>10-120s</a:t>
            </a:r>
          </a:p>
        </p:txBody>
      </p:sp>
      <p:sp>
        <p:nvSpPr>
          <p:cNvPr id="26" name="Rectangle 25">
            <a:extLst>
              <a:ext uri="{FF2B5EF4-FFF2-40B4-BE49-F238E27FC236}">
                <a16:creationId xmlns:a16="http://schemas.microsoft.com/office/drawing/2014/main" id="{B95D1E11-0444-40C1-BE38-9FFCC2BC9D62}"/>
              </a:ext>
            </a:extLst>
          </p:cNvPr>
          <p:cNvSpPr>
            <a:spLocks noGrp="1"/>
          </p:cNvSpPr>
          <p:nvPr/>
        </p:nvSpPr>
        <p:spPr>
          <a:xfrm>
            <a:off x="6629400" y="5657850"/>
            <a:ext cx="1619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647085"/>
                </a:solidFill>
                <a:latin typeface="Aptos"/>
                <a:ea typeface="Aptos"/>
                <a:cs typeface="Aptos"/>
              </a:defRPr>
            </a:pPr>
            <a:r>
              <a:rPr sz="675" b="1">
                <a:solidFill>
                  <a:srgbClr val="647085"/>
                </a:solidFill>
                <a:latin typeface="Aptos"/>
                <a:ea typeface="Aptos"/>
                <a:cs typeface="Aptos"/>
              </a:rPr>
              <a:t>USEEXTENDS</a:t>
            </a:r>
          </a:p>
        </p:txBody>
      </p:sp>
      <p:sp>
        <p:nvSpPr>
          <p:cNvPr id="27" name="Rectangle 26">
            <a:extLst>
              <a:ext uri="{FF2B5EF4-FFF2-40B4-BE49-F238E27FC236}">
                <a16:creationId xmlns:a16="http://schemas.microsoft.com/office/drawing/2014/main" id="{A08BFE8A-0B94-49D1-A918-2018B5727BA8}"/>
              </a:ext>
            </a:extLst>
          </p:cNvPr>
          <p:cNvSpPr>
            <a:spLocks noGrp="1"/>
          </p:cNvSpPr>
          <p:nvPr/>
        </p:nvSpPr>
        <p:spPr>
          <a:xfrm>
            <a:off x="6629400" y="5829300"/>
            <a:ext cx="1809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647085"/>
                </a:solidFill>
                <a:latin typeface="Aptos"/>
                <a:ea typeface="Aptos"/>
                <a:cs typeface="Aptos"/>
              </a:defRPr>
            </a:pPr>
            <a:r>
              <a:rPr sz="675" b="0">
                <a:solidFill>
                  <a:srgbClr val="647085"/>
                </a:solidFill>
                <a:latin typeface="Aptos"/>
                <a:ea typeface="Aptos"/>
                <a:cs typeface="Aptos"/>
              </a:rPr>
              <a:t>successful-use extension</a:t>
            </a:r>
          </a:p>
        </p:txBody>
      </p:sp>
    </p:spTree>
    <p:extLst>
      <p:ext uri="{BB962C8B-B14F-4D97-AF65-F5344CB8AC3E}">
        <p14:creationId xmlns:p14="http://schemas.microsoft.com/office/powerpoint/2010/main" val="263122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EB27E92-16EB-45C5-847F-D2B9C4FB60D2}"/>
              </a:ext>
            </a:extLst>
          </p:cNvPr>
          <p:cNvSpPr>
            <a:spLocks noGrp="1"/>
          </p:cNvSpPr>
          <p:nvPr/>
        </p:nvSpPr>
        <p:spPr>
          <a:xfrm>
            <a:off x="0" y="0"/>
            <a:ext cx="12192000" cy="6858000"/>
          </a:xfrm>
          <a:prstGeom prst="rect">
            <a:avLst/>
          </a:prstGeom>
          <a:solidFill>
            <a:srgbClr val="F7FAFD"/>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CEC3B4E2-CE7F-4A06-913F-895C8433BD77}"/>
              </a:ext>
            </a:extLst>
          </p:cNvPr>
          <p:cNvSpPr>
            <a:spLocks noGrp="1"/>
          </p:cNvSpPr>
          <p:nvPr/>
        </p:nvSpPr>
        <p:spPr>
          <a:xfrm>
            <a:off x="0" y="0"/>
            <a:ext cx="12192000" cy="819150"/>
          </a:xfrm>
          <a:prstGeom prst="rect">
            <a:avLst/>
          </a:prstGeom>
          <a:solidFill>
            <a:srgbClr val="FFFFF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D411FABD-610D-4DDA-AD5E-32436757D40C}"/>
              </a:ext>
            </a:extLst>
          </p:cNvPr>
          <p:cNvSpPr>
            <a:spLocks noGrp="1"/>
          </p:cNvSpPr>
          <p:nvPr/>
        </p:nvSpPr>
        <p:spPr>
          <a:xfrm>
            <a:off x="514350" y="819150"/>
            <a:ext cx="11163300" cy="9525"/>
          </a:xfrm>
          <a:prstGeom prst="rect">
            <a:avLst/>
          </a:prstGeom>
          <a:solidFill>
            <a:srgbClr val="D9E2EC"/>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87FB1930-0CF5-490D-8333-5CB30236A64D}"/>
              </a:ext>
            </a:extLst>
          </p:cNvPr>
          <p:cNvSpPr>
            <a:spLocks noGrp="1"/>
          </p:cNvSpPr>
          <p:nvPr/>
        </p:nvSpPr>
        <p:spPr>
          <a:xfrm>
            <a:off x="514350" y="323850"/>
            <a:ext cx="47625" cy="266700"/>
          </a:xfrm>
          <a:prstGeom prst="rect">
            <a:avLst/>
          </a:prstGeom>
          <a:solidFill>
            <a:srgbClr val="2F80ED"/>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B00F4C14-5B59-4760-B0E5-3BBF7C81186C}"/>
              </a:ext>
            </a:extLst>
          </p:cNvPr>
          <p:cNvSpPr>
            <a:spLocks noGrp="1"/>
          </p:cNvSpPr>
          <p:nvPr/>
        </p:nvSpPr>
        <p:spPr>
          <a:xfrm>
            <a:off x="704850" y="295275"/>
            <a:ext cx="2476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647085"/>
                </a:solidFill>
                <a:latin typeface="Aptos"/>
                <a:ea typeface="Aptos"/>
                <a:cs typeface="Aptos"/>
              </a:defRPr>
            </a:pPr>
            <a:r>
              <a:rPr sz="750" b="1">
                <a:solidFill>
                  <a:srgbClr val="647085"/>
                </a:solidFill>
                <a:latin typeface="Aptos"/>
                <a:ea typeface="Aptos"/>
                <a:cs typeface="Aptos"/>
              </a:rPr>
              <a:t>IMPLEMENTATION</a:t>
            </a:r>
          </a:p>
        </p:txBody>
      </p:sp>
      <p:sp>
        <p:nvSpPr>
          <p:cNvPr id="6" name="Rectangle 5">
            <a:extLst>
              <a:ext uri="{FF2B5EF4-FFF2-40B4-BE49-F238E27FC236}">
                <a16:creationId xmlns:a16="http://schemas.microsoft.com/office/drawing/2014/main" id="{61FED1D5-3818-4149-B6BD-0CDE11B92B42}"/>
              </a:ext>
            </a:extLst>
          </p:cNvPr>
          <p:cNvSpPr>
            <a:spLocks noGrp="1"/>
          </p:cNvSpPr>
          <p:nvPr/>
        </p:nvSpPr>
        <p:spPr>
          <a:xfrm>
            <a:off x="704850" y="476250"/>
            <a:ext cx="92392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42033"/>
                </a:solidFill>
                <a:latin typeface="Aptos"/>
                <a:ea typeface="Aptos"/>
                <a:cs typeface="Aptos"/>
              </a:defRPr>
            </a:pPr>
            <a:r>
              <a:rPr sz="1350" b="1">
                <a:solidFill>
                  <a:srgbClr val="142033"/>
                </a:solidFill>
                <a:latin typeface="Aptos"/>
                <a:ea typeface="Aptos"/>
                <a:cs typeface="Aptos"/>
              </a:rPr>
              <a:t>The adaptive values are computed before DSR is installed on the nodes.</a:t>
            </a:r>
          </a:p>
        </p:txBody>
      </p:sp>
      <p:sp>
        <p:nvSpPr>
          <p:cNvPr id="7" name="Rectangle 6">
            <a:extLst>
              <a:ext uri="{FF2B5EF4-FFF2-40B4-BE49-F238E27FC236}">
                <a16:creationId xmlns:a16="http://schemas.microsoft.com/office/drawing/2014/main" id="{060CA1C5-7D20-441C-BF60-44BC9FC7C1E6}"/>
              </a:ext>
            </a:extLst>
          </p:cNvPr>
          <p:cNvSpPr>
            <a:spLocks noGrp="1"/>
          </p:cNvSpPr>
          <p:nvPr/>
        </p:nvSpPr>
        <p:spPr>
          <a:xfrm>
            <a:off x="9334500" y="5962650"/>
            <a:ext cx="2286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75" b="0">
                <a:solidFill>
                  <a:srgbClr val="647085"/>
                </a:solidFill>
                <a:latin typeface="Aptos"/>
                <a:ea typeface="Aptos"/>
                <a:cs typeface="Aptos"/>
              </a:defRPr>
            </a:pPr>
            <a:r>
              <a:rPr sz="675" b="0">
                <a:solidFill>
                  <a:srgbClr val="647085"/>
                </a:solidFill>
                <a:latin typeface="Aptos"/>
                <a:ea typeface="Aptos"/>
                <a:cs typeface="Aptos"/>
              </a:rPr>
              <a:t>Adaptive DSR route cache | 04</a:t>
            </a:r>
          </a:p>
        </p:txBody>
      </p:sp>
      <p:sp>
        <p:nvSpPr>
          <p:cNvPr id="8" name="Rectangle 7">
            <a:extLst>
              <a:ext uri="{FF2B5EF4-FFF2-40B4-BE49-F238E27FC236}">
                <a16:creationId xmlns:a16="http://schemas.microsoft.com/office/drawing/2014/main" id="{EC9E7BCA-93D0-4FB3-88A5-A73BECF26D59}"/>
              </a:ext>
            </a:extLst>
          </p:cNvPr>
          <p:cNvSpPr>
            <a:spLocks noGrp="1"/>
          </p:cNvSpPr>
          <p:nvPr/>
        </p:nvSpPr>
        <p:spPr>
          <a:xfrm>
            <a:off x="666750" y="1257300"/>
            <a:ext cx="4953000" cy="4381500"/>
          </a:xfrm>
          <a:prstGeom prst="rect">
            <a:avLst/>
          </a:prstGeom>
          <a:solidFill>
            <a:srgbClr val="FFFFFF"/>
          </a:solidFill>
          <a:ln w="9525">
            <a:solidFill>
              <a:srgbClr val="D9E2EC"/>
            </a:solidFill>
            <a:prstDash val="solid"/>
          </a:ln>
        </p:spPr>
        <p:txBody>
          <a:bodyPr/>
          <a:lstStyle/>
          <a:p>
            <a:endParaRPr lang="en-US"/>
          </a:p>
        </p:txBody>
      </p:sp>
      <p:sp>
        <p:nvSpPr>
          <p:cNvPr id="9" name="Rectangle 8">
            <a:extLst>
              <a:ext uri="{FF2B5EF4-FFF2-40B4-BE49-F238E27FC236}">
                <a16:creationId xmlns:a16="http://schemas.microsoft.com/office/drawing/2014/main" id="{4A853068-CC8D-4F7A-AEA7-5EB39762F339}"/>
              </a:ext>
            </a:extLst>
          </p:cNvPr>
          <p:cNvSpPr>
            <a:spLocks noGrp="1"/>
          </p:cNvSpPr>
          <p:nvPr/>
        </p:nvSpPr>
        <p:spPr>
          <a:xfrm>
            <a:off x="990600" y="1524000"/>
            <a:ext cx="34290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F4E79"/>
                </a:solidFill>
                <a:latin typeface="Aptos"/>
                <a:ea typeface="Aptos"/>
                <a:cs typeface="Aptos"/>
              </a:defRPr>
            </a:pPr>
            <a:r>
              <a:rPr sz="1650" b="1">
                <a:solidFill>
                  <a:srgbClr val="1F4E79"/>
                </a:solidFill>
                <a:latin typeface="Aptos"/>
                <a:ea typeface="Aptos"/>
                <a:cs typeface="Aptos"/>
              </a:rPr>
              <a:t>Command-line switches</a:t>
            </a:r>
          </a:p>
        </p:txBody>
      </p:sp>
      <p:sp>
        <p:nvSpPr>
          <p:cNvPr id="10" name="Rectangle 9">
            <a:extLst>
              <a:ext uri="{FF2B5EF4-FFF2-40B4-BE49-F238E27FC236}">
                <a16:creationId xmlns:a16="http://schemas.microsoft.com/office/drawing/2014/main" id="{77425D1E-3025-4CFA-A0E0-52CCBE21F557}"/>
              </a:ext>
            </a:extLst>
          </p:cNvPr>
          <p:cNvSpPr>
            <a:spLocks noGrp="1"/>
          </p:cNvSpPr>
          <p:nvPr/>
        </p:nvSpPr>
        <p:spPr>
          <a:xfrm>
            <a:off x="990600" y="2019300"/>
            <a:ext cx="3810000" cy="2286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0">
                <a:solidFill>
                  <a:srgbClr val="142033"/>
                </a:solidFill>
                <a:latin typeface="Aptos Mono"/>
                <a:ea typeface="Aptos Mono"/>
                <a:cs typeface="Aptos Mono"/>
              </a:defRPr>
            </a:pPr>
            <a:r>
              <a:rPr sz="1650" b="0">
                <a:solidFill>
                  <a:srgbClr val="142033"/>
                </a:solidFill>
                <a:latin typeface="Aptos Mono"/>
                <a:ea typeface="Aptos Mono"/>
                <a:cs typeface="Aptos Mono"/>
              </a:rPr>
              <a:t>adaptiveRouteCache</a:t>
            </a:r>
          </a:p>
          <a:p>
            <a:pPr algn="l">
              <a:defRPr sz="1650" b="0">
                <a:solidFill>
                  <a:srgbClr val="142033"/>
                </a:solidFill>
                <a:latin typeface="Aptos Mono"/>
                <a:ea typeface="Aptos Mono"/>
                <a:cs typeface="Aptos Mono"/>
              </a:defRPr>
            </a:pPr>
            <a:r>
              <a:rPr sz="1650" b="0">
                <a:solidFill>
                  <a:srgbClr val="142033"/>
                </a:solidFill>
                <a:latin typeface="Aptos Mono"/>
                <a:ea typeface="Aptos Mono"/>
                <a:cs typeface="Aptos Mono"/>
              </a:rPr>
              <a:t>adaptiveLinkStability</a:t>
            </a:r>
          </a:p>
          <a:p>
            <a:pPr algn="l">
              <a:defRPr sz="1650" b="0">
                <a:solidFill>
                  <a:srgbClr val="142033"/>
                </a:solidFill>
                <a:latin typeface="Aptos Mono"/>
                <a:ea typeface="Aptos Mono"/>
                <a:cs typeface="Aptos Mono"/>
              </a:defRPr>
            </a:pPr>
            <a:r>
              <a:rPr sz="1650" b="0">
                <a:solidFill>
                  <a:srgbClr val="142033"/>
                </a:solidFill>
                <a:latin typeface="Aptos Mono"/>
                <a:ea typeface="Aptos Mono"/>
                <a:cs typeface="Aptos Mono"/>
              </a:rPr>
              <a:t>cacheType</a:t>
            </a:r>
          </a:p>
          <a:p>
            <a:pPr algn="l">
              <a:defRPr sz="1650" b="0">
                <a:solidFill>
                  <a:srgbClr val="142033"/>
                </a:solidFill>
                <a:latin typeface="Aptos Mono"/>
                <a:ea typeface="Aptos Mono"/>
                <a:cs typeface="Aptos Mono"/>
              </a:defRPr>
            </a:pPr>
            <a:r>
              <a:rPr sz="1650" b="0">
                <a:solidFill>
                  <a:srgbClr val="142033"/>
                </a:solidFill>
                <a:latin typeface="Aptos Mono"/>
                <a:ea typeface="Aptos Mono"/>
                <a:cs typeface="Aptos Mono"/>
              </a:rPr>
              <a:t>baseRouteCacheTimeout</a:t>
            </a:r>
          </a:p>
          <a:p>
            <a:pPr algn="l">
              <a:defRPr sz="1650" b="0">
                <a:solidFill>
                  <a:srgbClr val="142033"/>
                </a:solidFill>
                <a:latin typeface="Aptos Mono"/>
                <a:ea typeface="Aptos Mono"/>
                <a:cs typeface="Aptos Mono"/>
              </a:defRPr>
            </a:pPr>
            <a:r>
              <a:rPr sz="1650" b="0">
                <a:solidFill>
                  <a:srgbClr val="142033"/>
                </a:solidFill>
                <a:latin typeface="Aptos Mono"/>
                <a:ea typeface="Aptos Mono"/>
                <a:cs typeface="Aptos Mono"/>
              </a:rPr>
              <a:t>baseInitStability</a:t>
            </a:r>
          </a:p>
          <a:p>
            <a:pPr algn="l">
              <a:defRPr sz="1650" b="0">
                <a:solidFill>
                  <a:srgbClr val="142033"/>
                </a:solidFill>
                <a:latin typeface="Aptos Mono"/>
                <a:ea typeface="Aptos Mono"/>
                <a:cs typeface="Aptos Mono"/>
              </a:defRPr>
            </a:pPr>
            <a:r>
              <a:rPr sz="1650" b="0">
                <a:solidFill>
                  <a:srgbClr val="142033"/>
                </a:solidFill>
                <a:latin typeface="Aptos Mono"/>
                <a:ea typeface="Aptos Mono"/>
                <a:cs typeface="Aptos Mono"/>
              </a:rPr>
              <a:t>baseUseExtends</a:t>
            </a:r>
          </a:p>
          <a:p>
            <a:pPr algn="l">
              <a:defRPr sz="1650" b="0">
                <a:solidFill>
                  <a:srgbClr val="142033"/>
                </a:solidFill>
                <a:latin typeface="Aptos Mono"/>
                <a:ea typeface="Aptos Mono"/>
                <a:cs typeface="Aptos Mono"/>
              </a:defRPr>
            </a:pPr>
            <a:r>
              <a:rPr sz="1650" b="0">
                <a:solidFill>
                  <a:srgbClr val="142033"/>
                </a:solidFill>
                <a:latin typeface="Aptos Mono"/>
                <a:ea typeface="Aptos Mono"/>
                <a:cs typeface="Aptos Mono"/>
              </a:rPr>
              <a:t>cacheReferenceSpeed</a:t>
            </a:r>
          </a:p>
        </p:txBody>
      </p:sp>
      <p:sp>
        <p:nvSpPr>
          <p:cNvPr id="11" name="Rectangle 10">
            <a:extLst>
              <a:ext uri="{FF2B5EF4-FFF2-40B4-BE49-F238E27FC236}">
                <a16:creationId xmlns:a16="http://schemas.microsoft.com/office/drawing/2014/main" id="{D1E2DA18-9B87-4AE1-B566-14CD79A48A1E}"/>
              </a:ext>
            </a:extLst>
          </p:cNvPr>
          <p:cNvSpPr>
            <a:spLocks noGrp="1"/>
          </p:cNvSpPr>
          <p:nvPr/>
        </p:nvSpPr>
        <p:spPr>
          <a:xfrm>
            <a:off x="6191250" y="1257300"/>
            <a:ext cx="4762500" cy="4381500"/>
          </a:xfrm>
          <a:prstGeom prst="rect">
            <a:avLst/>
          </a:prstGeom>
          <a:solidFill>
            <a:srgbClr val="142033"/>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09893FBB-2A39-45B3-B5D6-E590A4B80007}"/>
              </a:ext>
            </a:extLst>
          </p:cNvPr>
          <p:cNvSpPr>
            <a:spLocks noGrp="1"/>
          </p:cNvSpPr>
          <p:nvPr/>
        </p:nvSpPr>
        <p:spPr>
          <a:xfrm>
            <a:off x="6534150" y="1695450"/>
            <a:ext cx="4095750" cy="2571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E7EEF7"/>
                </a:solidFill>
                <a:latin typeface="Aptos Mono"/>
                <a:ea typeface="Aptos Mono"/>
                <a:cs typeface="Aptos Mono"/>
              </a:defRPr>
            </a:pPr>
            <a:r>
              <a:rPr sz="1125" b="0">
                <a:solidFill>
                  <a:srgbClr val="E7EEF7"/>
                </a:solidFill>
                <a:latin typeface="Aptos Mono"/>
                <a:ea typeface="Aptos Mono"/>
                <a:cs typeface="Aptos Mono"/>
              </a:rPr>
              <a:t>Config::SetDefault("ns3::dsr::DsrRouting::RouteCacheTimeout",</a:t>
            </a:r>
          </a:p>
          <a:p>
            <a:pPr algn="l">
              <a:defRPr sz="1125" b="0">
                <a:solidFill>
                  <a:srgbClr val="E7EEF7"/>
                </a:solidFill>
                <a:latin typeface="Aptos Mono"/>
                <a:ea typeface="Aptos Mono"/>
                <a:cs typeface="Aptos Mono"/>
              </a:defRPr>
            </a:pPr>
            <a:r>
              <a:rPr sz="1125" b="0">
                <a:solidFill>
                  <a:srgbClr val="E7EEF7"/>
                </a:solidFill>
                <a:latin typeface="Aptos Mono"/>
                <a:ea typeface="Aptos Mono"/>
                <a:cs typeface="Aptos Mono"/>
              </a:rPr>
              <a:t>                   TimeValue(Seconds(m_effectiveRouteCacheTimeout)));</a:t>
            </a:r>
          </a:p>
          <a:p>
            <a:pPr algn="l">
              <a:defRPr sz="1125" b="0">
                <a:solidFill>
                  <a:srgbClr val="E7EEF7"/>
                </a:solidFill>
                <a:latin typeface="Aptos Mono"/>
                <a:ea typeface="Aptos Mono"/>
                <a:cs typeface="Aptos Mono"/>
              </a:defRPr>
            </a:pPr>
            <a:r>
              <a:rPr sz="1125" b="0">
                <a:solidFill>
                  <a:srgbClr val="E7EEF7"/>
                </a:solidFill>
                <a:latin typeface="Aptos Mono"/>
                <a:ea typeface="Aptos Mono"/>
                <a:cs typeface="Aptos Mono"/>
              </a:rPr>
              <a:t>Config::SetDefault("ns3::dsr::DsrRouting::InitStability",</a:t>
            </a:r>
          </a:p>
          <a:p>
            <a:pPr algn="l">
              <a:defRPr sz="1125" b="0">
                <a:solidFill>
                  <a:srgbClr val="E7EEF7"/>
                </a:solidFill>
                <a:latin typeface="Aptos Mono"/>
                <a:ea typeface="Aptos Mono"/>
                <a:cs typeface="Aptos Mono"/>
              </a:defRPr>
            </a:pPr>
            <a:r>
              <a:rPr sz="1125" b="0">
                <a:solidFill>
                  <a:srgbClr val="E7EEF7"/>
                </a:solidFill>
                <a:latin typeface="Aptos Mono"/>
                <a:ea typeface="Aptos Mono"/>
                <a:cs typeface="Aptos Mono"/>
              </a:rPr>
              <a:t>                   TimeValue(Seconds(m_effectiveInitStability)));</a:t>
            </a:r>
          </a:p>
          <a:p>
            <a:pPr algn="l">
              <a:defRPr sz="1125" b="0">
                <a:solidFill>
                  <a:srgbClr val="E7EEF7"/>
                </a:solidFill>
                <a:latin typeface="Aptos Mono"/>
                <a:ea typeface="Aptos Mono"/>
                <a:cs typeface="Aptos Mono"/>
              </a:defRPr>
            </a:pPr>
            <a:r>
              <a:rPr sz="1125" b="0">
                <a:solidFill>
                  <a:srgbClr val="E7EEF7"/>
                </a:solidFill>
                <a:latin typeface="Aptos Mono"/>
                <a:ea typeface="Aptos Mono"/>
                <a:cs typeface="Aptos Mono"/>
              </a:rPr>
              <a:t>Config::SetDefault("ns3::dsr::DsrRouting::UseExtends",</a:t>
            </a:r>
          </a:p>
          <a:p>
            <a:pPr algn="l">
              <a:defRPr sz="1125" b="0">
                <a:solidFill>
                  <a:srgbClr val="E7EEF7"/>
                </a:solidFill>
                <a:latin typeface="Aptos Mono"/>
                <a:ea typeface="Aptos Mono"/>
                <a:cs typeface="Aptos Mono"/>
              </a:defRPr>
            </a:pPr>
            <a:r>
              <a:rPr sz="1125" b="0">
                <a:solidFill>
                  <a:srgbClr val="E7EEF7"/>
                </a:solidFill>
                <a:latin typeface="Aptos Mono"/>
                <a:ea typeface="Aptos Mono"/>
                <a:cs typeface="Aptos Mono"/>
              </a:rPr>
              <a:t>                   TimeValue(Seconds(m_effectiveUseExtends)));</a:t>
            </a:r>
          </a:p>
        </p:txBody>
      </p:sp>
      <p:sp>
        <p:nvSpPr>
          <p:cNvPr id="13" name="Rectangle 12">
            <a:extLst>
              <a:ext uri="{FF2B5EF4-FFF2-40B4-BE49-F238E27FC236}">
                <a16:creationId xmlns:a16="http://schemas.microsoft.com/office/drawing/2014/main" id="{1EB7B94F-9DAD-479A-988F-8A8EDFCE164F}"/>
              </a:ext>
            </a:extLst>
          </p:cNvPr>
          <p:cNvSpPr>
            <a:spLocks noGrp="1"/>
          </p:cNvSpPr>
          <p:nvPr/>
        </p:nvSpPr>
        <p:spPr>
          <a:xfrm>
            <a:off x="6534150" y="4724400"/>
            <a:ext cx="40005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FFFFFF"/>
                </a:solidFill>
                <a:latin typeface="Aptos"/>
                <a:ea typeface="Aptos"/>
                <a:cs typeface="Aptos"/>
              </a:defRPr>
            </a:pPr>
            <a:r>
              <a:rPr sz="1275" b="1">
                <a:solidFill>
                  <a:srgbClr val="FFFFFF"/>
                </a:solidFill>
                <a:latin typeface="Aptos"/>
                <a:ea typeface="Aptos"/>
                <a:cs typeface="Aptos"/>
              </a:rPr>
              <a:t>Placement matters: defaults must be set before dsrMain.Install(...) creates the routing objects.</a:t>
            </a:r>
          </a:p>
        </p:txBody>
      </p:sp>
    </p:spTree>
    <p:extLst>
      <p:ext uri="{BB962C8B-B14F-4D97-AF65-F5344CB8AC3E}">
        <p14:creationId xmlns:p14="http://schemas.microsoft.com/office/powerpoint/2010/main" val="1042726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1158B027-E7DA-4977-80FE-FF8AF5168E42}"/>
              </a:ext>
            </a:extLst>
          </p:cNvPr>
          <p:cNvSpPr>
            <a:spLocks noGrp="1"/>
          </p:cNvSpPr>
          <p:nvPr/>
        </p:nvSpPr>
        <p:spPr>
          <a:xfrm>
            <a:off x="0" y="0"/>
            <a:ext cx="12192000" cy="6858000"/>
          </a:xfrm>
          <a:prstGeom prst="rect">
            <a:avLst/>
          </a:prstGeom>
          <a:solidFill>
            <a:srgbClr val="F7FAFD"/>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8B30808B-50F0-4F0B-AAA7-5C64C569A74C}"/>
              </a:ext>
            </a:extLst>
          </p:cNvPr>
          <p:cNvSpPr>
            <a:spLocks noGrp="1"/>
          </p:cNvSpPr>
          <p:nvPr/>
        </p:nvSpPr>
        <p:spPr>
          <a:xfrm>
            <a:off x="0" y="0"/>
            <a:ext cx="12192000" cy="819150"/>
          </a:xfrm>
          <a:prstGeom prst="rect">
            <a:avLst/>
          </a:prstGeom>
          <a:solidFill>
            <a:srgbClr val="FFFFF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AE5B9AC9-7824-4E7F-8FC8-421EFEBBD5D5}"/>
              </a:ext>
            </a:extLst>
          </p:cNvPr>
          <p:cNvSpPr>
            <a:spLocks noGrp="1"/>
          </p:cNvSpPr>
          <p:nvPr/>
        </p:nvSpPr>
        <p:spPr>
          <a:xfrm>
            <a:off x="514350" y="819150"/>
            <a:ext cx="11163300" cy="9525"/>
          </a:xfrm>
          <a:prstGeom prst="rect">
            <a:avLst/>
          </a:prstGeom>
          <a:solidFill>
            <a:srgbClr val="D9E2EC"/>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8557B75C-E5AE-4AC6-9F2C-D316E5266590}"/>
              </a:ext>
            </a:extLst>
          </p:cNvPr>
          <p:cNvSpPr>
            <a:spLocks noGrp="1"/>
          </p:cNvSpPr>
          <p:nvPr/>
        </p:nvSpPr>
        <p:spPr>
          <a:xfrm>
            <a:off x="514350" y="323850"/>
            <a:ext cx="47625" cy="266700"/>
          </a:xfrm>
          <a:prstGeom prst="rect">
            <a:avLst/>
          </a:prstGeom>
          <a:solidFill>
            <a:srgbClr val="2F80ED"/>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812E7ABD-3AF2-40C1-BD5D-CBDA1C7E2122}"/>
              </a:ext>
            </a:extLst>
          </p:cNvPr>
          <p:cNvSpPr>
            <a:spLocks noGrp="1"/>
          </p:cNvSpPr>
          <p:nvPr/>
        </p:nvSpPr>
        <p:spPr>
          <a:xfrm>
            <a:off x="704850" y="295275"/>
            <a:ext cx="2476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647085"/>
                </a:solidFill>
                <a:latin typeface="Aptos"/>
                <a:ea typeface="Aptos"/>
                <a:cs typeface="Aptos"/>
              </a:defRPr>
            </a:pPr>
            <a:r>
              <a:rPr sz="750" b="1">
                <a:solidFill>
                  <a:srgbClr val="647085"/>
                </a:solidFill>
                <a:latin typeface="Aptos"/>
                <a:ea typeface="Aptos"/>
                <a:cs typeface="Aptos"/>
              </a:rPr>
              <a:t>ADAPTIVE SWEEP</a:t>
            </a:r>
          </a:p>
        </p:txBody>
      </p:sp>
      <p:sp>
        <p:nvSpPr>
          <p:cNvPr id="6" name="Rectangle 5">
            <a:extLst>
              <a:ext uri="{FF2B5EF4-FFF2-40B4-BE49-F238E27FC236}">
                <a16:creationId xmlns:a16="http://schemas.microsoft.com/office/drawing/2014/main" id="{376E38EF-BF51-497C-8505-17C84886416B}"/>
              </a:ext>
            </a:extLst>
          </p:cNvPr>
          <p:cNvSpPr>
            <a:spLocks noGrp="1"/>
          </p:cNvSpPr>
          <p:nvPr/>
        </p:nvSpPr>
        <p:spPr>
          <a:xfrm>
            <a:off x="704850" y="476250"/>
            <a:ext cx="92392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42033"/>
                </a:solidFill>
                <a:latin typeface="Aptos"/>
                <a:ea typeface="Aptos"/>
                <a:cs typeface="Aptos"/>
              </a:defRPr>
            </a:pPr>
            <a:r>
              <a:rPr sz="1350" b="1">
                <a:solidFill>
                  <a:srgbClr val="142033"/>
                </a:solidFill>
                <a:latin typeface="Aptos"/>
                <a:ea typeface="Aptos"/>
                <a:cs typeface="Aptos"/>
              </a:rPr>
              <a:t>The 50% adaptive setting delivered the strongest packet count in this run.</a:t>
            </a:r>
          </a:p>
        </p:txBody>
      </p:sp>
      <p:sp>
        <p:nvSpPr>
          <p:cNvPr id="7" name="Rectangle 6">
            <a:extLst>
              <a:ext uri="{FF2B5EF4-FFF2-40B4-BE49-F238E27FC236}">
                <a16:creationId xmlns:a16="http://schemas.microsoft.com/office/drawing/2014/main" id="{DA847F48-4690-4C7A-BA0B-9B0BE7FAA2A1}"/>
              </a:ext>
            </a:extLst>
          </p:cNvPr>
          <p:cNvSpPr>
            <a:spLocks noGrp="1"/>
          </p:cNvSpPr>
          <p:nvPr/>
        </p:nvSpPr>
        <p:spPr>
          <a:xfrm>
            <a:off x="9334500" y="5962650"/>
            <a:ext cx="2286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75" b="0">
                <a:solidFill>
                  <a:srgbClr val="647085"/>
                </a:solidFill>
                <a:latin typeface="Aptos"/>
                <a:ea typeface="Aptos"/>
                <a:cs typeface="Aptos"/>
              </a:defRPr>
            </a:pPr>
            <a:r>
              <a:rPr sz="675" b="0">
                <a:solidFill>
                  <a:srgbClr val="647085"/>
                </a:solidFill>
                <a:latin typeface="Aptos"/>
                <a:ea typeface="Aptos"/>
                <a:cs typeface="Aptos"/>
              </a:rPr>
              <a:t>Adaptive DSR route cache | 05</a:t>
            </a:r>
          </a:p>
        </p:txBody>
      </p:sp>
      <p:pic>
        <p:nvPicPr>
          <p:cNvPr id="8" name="Picture 7"/>
          <p:cNvPicPr>
            <a:picLocks noChangeAspect="1"/>
          </p:cNvPicPr>
          <p:nvPr/>
        </p:nvPicPr>
        <p:blipFill>
          <a:blip r:embed="rId3"/>
          <a:stretch/>
        </p:blipFill>
        <p:spPr>
          <a:xfrm>
            <a:off x="571500" y="1200150"/>
            <a:ext cx="6286500" cy="3771900"/>
          </a:xfrm>
          <a:prstGeom prst="rect">
            <a:avLst/>
          </a:prstGeom>
        </p:spPr>
      </p:pic>
      <p:sp>
        <p:nvSpPr>
          <p:cNvPr id="9" name="Rectangle 8">
            <a:extLst>
              <a:ext uri="{FF2B5EF4-FFF2-40B4-BE49-F238E27FC236}">
                <a16:creationId xmlns:a16="http://schemas.microsoft.com/office/drawing/2014/main" id="{48770078-480C-46F2-AA27-AD6A7179EF9D}"/>
              </a:ext>
            </a:extLst>
          </p:cNvPr>
          <p:cNvSpPr>
            <a:spLocks noGrp="1"/>
          </p:cNvSpPr>
          <p:nvPr/>
        </p:nvSpPr>
        <p:spPr>
          <a:xfrm>
            <a:off x="7429500" y="1543050"/>
            <a:ext cx="38100" cy="685800"/>
          </a:xfrm>
          <a:prstGeom prst="rect">
            <a:avLst/>
          </a:prstGeom>
          <a:solidFill>
            <a:srgbClr val="00A676"/>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D2F8E546-B697-4867-80DD-8B6A5A9FCCC6}"/>
              </a:ext>
            </a:extLst>
          </p:cNvPr>
          <p:cNvSpPr>
            <a:spLocks noGrp="1"/>
          </p:cNvSpPr>
          <p:nvPr/>
        </p:nvSpPr>
        <p:spPr>
          <a:xfrm>
            <a:off x="7581900" y="1524000"/>
            <a:ext cx="1619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42033"/>
                </a:solidFill>
                <a:latin typeface="Aptos"/>
                <a:ea typeface="Aptos"/>
                <a:cs typeface="Aptos"/>
              </a:defRPr>
            </a:pPr>
            <a:r>
              <a:rPr sz="2100" b="1">
                <a:solidFill>
                  <a:srgbClr val="142033"/>
                </a:solidFill>
                <a:latin typeface="Aptos"/>
                <a:ea typeface="Aptos"/>
                <a:cs typeface="Aptos"/>
              </a:rPr>
              <a:t>1261</a:t>
            </a:r>
          </a:p>
        </p:txBody>
      </p:sp>
      <p:sp>
        <p:nvSpPr>
          <p:cNvPr id="11" name="Rectangle 10">
            <a:extLst>
              <a:ext uri="{FF2B5EF4-FFF2-40B4-BE49-F238E27FC236}">
                <a16:creationId xmlns:a16="http://schemas.microsoft.com/office/drawing/2014/main" id="{DF3924FD-8F4E-403C-96FB-CFEC71EA6479}"/>
              </a:ext>
            </a:extLst>
          </p:cNvPr>
          <p:cNvSpPr>
            <a:spLocks noGrp="1"/>
          </p:cNvSpPr>
          <p:nvPr/>
        </p:nvSpPr>
        <p:spPr>
          <a:xfrm>
            <a:off x="7581900" y="1905000"/>
            <a:ext cx="1619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647085"/>
                </a:solidFill>
                <a:latin typeface="Aptos"/>
                <a:ea typeface="Aptos"/>
                <a:cs typeface="Aptos"/>
              </a:defRPr>
            </a:pPr>
            <a:r>
              <a:rPr sz="675" b="1">
                <a:solidFill>
                  <a:srgbClr val="647085"/>
                </a:solidFill>
                <a:latin typeface="Aptos"/>
                <a:ea typeface="Aptos"/>
                <a:cs typeface="Aptos"/>
              </a:rPr>
              <a:t>BEST PACKET COUNT</a:t>
            </a:r>
          </a:p>
        </p:txBody>
      </p:sp>
      <p:sp>
        <p:nvSpPr>
          <p:cNvPr id="12" name="Rectangle 11">
            <a:extLst>
              <a:ext uri="{FF2B5EF4-FFF2-40B4-BE49-F238E27FC236}">
                <a16:creationId xmlns:a16="http://schemas.microsoft.com/office/drawing/2014/main" id="{1C6CD6F7-DDBB-4129-A1E5-5D74533567FD}"/>
              </a:ext>
            </a:extLst>
          </p:cNvPr>
          <p:cNvSpPr>
            <a:spLocks noGrp="1"/>
          </p:cNvSpPr>
          <p:nvPr/>
        </p:nvSpPr>
        <p:spPr>
          <a:xfrm>
            <a:off x="7581900" y="2076450"/>
            <a:ext cx="1809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647085"/>
                </a:solidFill>
                <a:latin typeface="Aptos"/>
                <a:ea typeface="Aptos"/>
                <a:cs typeface="Aptos"/>
              </a:defRPr>
            </a:pPr>
            <a:r>
              <a:rPr sz="675" b="0">
                <a:solidFill>
                  <a:srgbClr val="647085"/>
                </a:solidFill>
                <a:latin typeface="Aptos"/>
                <a:ea typeface="Aptos"/>
                <a:cs typeface="Aptos"/>
              </a:rPr>
              <a:t>50% adaptive run</a:t>
            </a:r>
          </a:p>
        </p:txBody>
      </p:sp>
      <p:sp>
        <p:nvSpPr>
          <p:cNvPr id="13" name="Rectangle 12">
            <a:extLst>
              <a:ext uri="{FF2B5EF4-FFF2-40B4-BE49-F238E27FC236}">
                <a16:creationId xmlns:a16="http://schemas.microsoft.com/office/drawing/2014/main" id="{38CD013E-0EAC-4427-99F8-25852047AEE1}"/>
              </a:ext>
            </a:extLst>
          </p:cNvPr>
          <p:cNvSpPr>
            <a:spLocks noGrp="1"/>
          </p:cNvSpPr>
          <p:nvPr/>
        </p:nvSpPr>
        <p:spPr>
          <a:xfrm>
            <a:off x="7429500" y="2686050"/>
            <a:ext cx="38100" cy="685800"/>
          </a:xfrm>
          <a:prstGeom prst="rect">
            <a:avLst/>
          </a:prstGeom>
          <a:solidFill>
            <a:srgbClr val="2F80ED"/>
          </a:solidFill>
          <a:ln w="0">
            <a:solidFill>
              <a:srgbClr val="000000">
                <a:alpha val="0"/>
              </a:srgbClr>
            </a:solidFill>
            <a:prstDash val="solid"/>
          </a:ln>
        </p:spPr>
        <p:txBody>
          <a:bodyPr/>
          <a:lstStyle/>
          <a:p>
            <a:endParaRPr lang="en-US"/>
          </a:p>
        </p:txBody>
      </p:sp>
      <p:sp>
        <p:nvSpPr>
          <p:cNvPr id="14" name="Rectangle 13">
            <a:extLst>
              <a:ext uri="{FF2B5EF4-FFF2-40B4-BE49-F238E27FC236}">
                <a16:creationId xmlns:a16="http://schemas.microsoft.com/office/drawing/2014/main" id="{C7B6F934-7B66-424C-A0A3-A1E6BC04FF0B}"/>
              </a:ext>
            </a:extLst>
          </p:cNvPr>
          <p:cNvSpPr>
            <a:spLocks noGrp="1"/>
          </p:cNvSpPr>
          <p:nvPr/>
        </p:nvSpPr>
        <p:spPr>
          <a:xfrm>
            <a:off x="7581900" y="2667000"/>
            <a:ext cx="1619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42033"/>
                </a:solidFill>
                <a:latin typeface="Aptos"/>
                <a:ea typeface="Aptos"/>
                <a:cs typeface="Aptos"/>
              </a:defRPr>
            </a:pPr>
            <a:r>
              <a:rPr sz="2100" b="1">
                <a:solidFill>
                  <a:srgbClr val="142033"/>
                </a:solidFill>
                <a:latin typeface="Aptos"/>
                <a:ea typeface="Aptos"/>
                <a:cs typeface="Aptos"/>
              </a:rPr>
              <a:t>3.228</a:t>
            </a:r>
          </a:p>
        </p:txBody>
      </p:sp>
      <p:sp>
        <p:nvSpPr>
          <p:cNvPr id="15" name="Rectangle 14">
            <a:extLst>
              <a:ext uri="{FF2B5EF4-FFF2-40B4-BE49-F238E27FC236}">
                <a16:creationId xmlns:a16="http://schemas.microsoft.com/office/drawing/2014/main" id="{539BC109-B344-4F51-A99B-41EA1E4EDB27}"/>
              </a:ext>
            </a:extLst>
          </p:cNvPr>
          <p:cNvSpPr>
            <a:spLocks noGrp="1"/>
          </p:cNvSpPr>
          <p:nvPr/>
        </p:nvSpPr>
        <p:spPr>
          <a:xfrm>
            <a:off x="7581900" y="3048000"/>
            <a:ext cx="1619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647085"/>
                </a:solidFill>
                <a:latin typeface="Aptos"/>
                <a:ea typeface="Aptos"/>
                <a:cs typeface="Aptos"/>
              </a:defRPr>
            </a:pPr>
            <a:r>
              <a:rPr sz="675" b="1">
                <a:solidFill>
                  <a:srgbClr val="647085"/>
                </a:solidFill>
                <a:latin typeface="Aptos"/>
                <a:ea typeface="Aptos"/>
                <a:cs typeface="Aptos"/>
              </a:rPr>
              <a:t>AVG KBPS</a:t>
            </a:r>
          </a:p>
        </p:txBody>
      </p:sp>
      <p:sp>
        <p:nvSpPr>
          <p:cNvPr id="16" name="Rectangle 15">
            <a:extLst>
              <a:ext uri="{FF2B5EF4-FFF2-40B4-BE49-F238E27FC236}">
                <a16:creationId xmlns:a16="http://schemas.microsoft.com/office/drawing/2014/main" id="{E914E730-6F39-48A8-98E9-1515628555F4}"/>
              </a:ext>
            </a:extLst>
          </p:cNvPr>
          <p:cNvSpPr>
            <a:spLocks noGrp="1"/>
          </p:cNvSpPr>
          <p:nvPr/>
        </p:nvSpPr>
        <p:spPr>
          <a:xfrm>
            <a:off x="7581900" y="3219450"/>
            <a:ext cx="1809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647085"/>
                </a:solidFill>
                <a:latin typeface="Aptos"/>
                <a:ea typeface="Aptos"/>
                <a:cs typeface="Aptos"/>
              </a:defRPr>
            </a:pPr>
            <a:r>
              <a:rPr sz="675" b="0">
                <a:solidFill>
                  <a:srgbClr val="647085"/>
                </a:solidFill>
                <a:latin typeface="Aptos"/>
                <a:ea typeface="Aptos"/>
                <a:cs typeface="Aptos"/>
              </a:rPr>
              <a:t>full 200-second average</a:t>
            </a:r>
          </a:p>
        </p:txBody>
      </p:sp>
      <p:sp>
        <p:nvSpPr>
          <p:cNvPr id="17" name="Rectangle 16">
            <a:extLst>
              <a:ext uri="{FF2B5EF4-FFF2-40B4-BE49-F238E27FC236}">
                <a16:creationId xmlns:a16="http://schemas.microsoft.com/office/drawing/2014/main" id="{0DB4CD47-05C4-4FD5-AD0A-0E92159A0132}"/>
              </a:ext>
            </a:extLst>
          </p:cNvPr>
          <p:cNvSpPr>
            <a:spLocks noGrp="1"/>
          </p:cNvSpPr>
          <p:nvPr/>
        </p:nvSpPr>
        <p:spPr>
          <a:xfrm>
            <a:off x="7429500" y="3829050"/>
            <a:ext cx="38100" cy="685800"/>
          </a:xfrm>
          <a:prstGeom prst="rect">
            <a:avLst/>
          </a:prstGeom>
          <a:solidFill>
            <a:srgbClr val="F59E0B"/>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96CD2513-3B5A-4BF0-BB31-57101E98CF30}"/>
              </a:ext>
            </a:extLst>
          </p:cNvPr>
          <p:cNvSpPr>
            <a:spLocks noGrp="1"/>
          </p:cNvSpPr>
          <p:nvPr/>
        </p:nvSpPr>
        <p:spPr>
          <a:xfrm>
            <a:off x="7581900" y="3810000"/>
            <a:ext cx="1619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42033"/>
                </a:solidFill>
                <a:latin typeface="Aptos"/>
                <a:ea typeface="Aptos"/>
                <a:cs typeface="Aptos"/>
              </a:defRPr>
            </a:pPr>
            <a:r>
              <a:rPr sz="2100" b="1">
                <a:solidFill>
                  <a:srgbClr val="142033"/>
                </a:solidFill>
                <a:latin typeface="Aptos"/>
                <a:ea typeface="Aptos"/>
                <a:cs typeface="Aptos"/>
              </a:rPr>
              <a:t>37.5s</a:t>
            </a:r>
          </a:p>
        </p:txBody>
      </p:sp>
      <p:sp>
        <p:nvSpPr>
          <p:cNvPr id="19" name="Rectangle 18">
            <a:extLst>
              <a:ext uri="{FF2B5EF4-FFF2-40B4-BE49-F238E27FC236}">
                <a16:creationId xmlns:a16="http://schemas.microsoft.com/office/drawing/2014/main" id="{70947566-628F-4B11-A1DF-76C312A7CE91}"/>
              </a:ext>
            </a:extLst>
          </p:cNvPr>
          <p:cNvSpPr>
            <a:spLocks noGrp="1"/>
          </p:cNvSpPr>
          <p:nvPr/>
        </p:nvSpPr>
        <p:spPr>
          <a:xfrm>
            <a:off x="7581900" y="4191000"/>
            <a:ext cx="1619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647085"/>
                </a:solidFill>
                <a:latin typeface="Aptos"/>
                <a:ea typeface="Aptos"/>
                <a:cs typeface="Aptos"/>
              </a:defRPr>
            </a:pPr>
            <a:r>
              <a:rPr sz="675" b="1">
                <a:solidFill>
                  <a:srgbClr val="647085"/>
                </a:solidFill>
                <a:latin typeface="Aptos"/>
                <a:ea typeface="Aptos"/>
                <a:cs typeface="Aptos"/>
              </a:rPr>
              <a:t>EFFECTIVE TIMEOUT</a:t>
            </a:r>
          </a:p>
        </p:txBody>
      </p:sp>
      <p:sp>
        <p:nvSpPr>
          <p:cNvPr id="20" name="Rectangle 19">
            <a:extLst>
              <a:ext uri="{FF2B5EF4-FFF2-40B4-BE49-F238E27FC236}">
                <a16:creationId xmlns:a16="http://schemas.microsoft.com/office/drawing/2014/main" id="{833471E3-99E8-4A36-9791-3B1D0972ED99}"/>
              </a:ext>
            </a:extLst>
          </p:cNvPr>
          <p:cNvSpPr>
            <a:spLocks noGrp="1"/>
          </p:cNvSpPr>
          <p:nvPr/>
        </p:nvSpPr>
        <p:spPr>
          <a:xfrm>
            <a:off x="7581900" y="4362450"/>
            <a:ext cx="1809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647085"/>
                </a:solidFill>
                <a:latin typeface="Aptos"/>
                <a:ea typeface="Aptos"/>
                <a:cs typeface="Aptos"/>
              </a:defRPr>
            </a:pPr>
            <a:r>
              <a:rPr sz="675" b="0">
                <a:solidFill>
                  <a:srgbClr val="647085"/>
                </a:solidFill>
                <a:latin typeface="Aptos"/>
                <a:ea typeface="Aptos"/>
                <a:cs typeface="Aptos"/>
              </a:rPr>
              <a:t>50% base after scaling</a:t>
            </a:r>
          </a:p>
        </p:txBody>
      </p:sp>
    </p:spTree>
    <p:extLst>
      <p:ext uri="{BB962C8B-B14F-4D97-AF65-F5344CB8AC3E}">
        <p14:creationId xmlns:p14="http://schemas.microsoft.com/office/powerpoint/2010/main" val="419744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38075B7-67A6-40D5-AEC6-96AD74A38F1B}"/>
              </a:ext>
            </a:extLst>
          </p:cNvPr>
          <p:cNvSpPr>
            <a:spLocks noGrp="1"/>
          </p:cNvSpPr>
          <p:nvPr/>
        </p:nvSpPr>
        <p:spPr>
          <a:xfrm>
            <a:off x="0" y="0"/>
            <a:ext cx="12192000" cy="6858000"/>
          </a:xfrm>
          <a:prstGeom prst="rect">
            <a:avLst/>
          </a:prstGeom>
          <a:solidFill>
            <a:srgbClr val="F7FAFD"/>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B4F7864E-B79E-4626-8BDE-6BFB734AB35F}"/>
              </a:ext>
            </a:extLst>
          </p:cNvPr>
          <p:cNvSpPr>
            <a:spLocks noGrp="1"/>
          </p:cNvSpPr>
          <p:nvPr/>
        </p:nvSpPr>
        <p:spPr>
          <a:xfrm>
            <a:off x="0" y="0"/>
            <a:ext cx="12192000" cy="819150"/>
          </a:xfrm>
          <a:prstGeom prst="rect">
            <a:avLst/>
          </a:prstGeom>
          <a:solidFill>
            <a:srgbClr val="FFFFF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4E0D8F3B-B0D2-423D-86F2-53358F095C40}"/>
              </a:ext>
            </a:extLst>
          </p:cNvPr>
          <p:cNvSpPr>
            <a:spLocks noGrp="1"/>
          </p:cNvSpPr>
          <p:nvPr/>
        </p:nvSpPr>
        <p:spPr>
          <a:xfrm>
            <a:off x="514350" y="819150"/>
            <a:ext cx="11163300" cy="9525"/>
          </a:xfrm>
          <a:prstGeom prst="rect">
            <a:avLst/>
          </a:prstGeom>
          <a:solidFill>
            <a:srgbClr val="D9E2EC"/>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D087294E-DC09-4A5F-9442-9F8C7DBFF6E6}"/>
              </a:ext>
            </a:extLst>
          </p:cNvPr>
          <p:cNvSpPr>
            <a:spLocks noGrp="1"/>
          </p:cNvSpPr>
          <p:nvPr/>
        </p:nvSpPr>
        <p:spPr>
          <a:xfrm>
            <a:off x="514350" y="323850"/>
            <a:ext cx="47625" cy="266700"/>
          </a:xfrm>
          <a:prstGeom prst="rect">
            <a:avLst/>
          </a:prstGeom>
          <a:solidFill>
            <a:srgbClr val="2F80ED"/>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C8DB2397-D379-4EE6-BA5A-BAE8C994C8FC}"/>
              </a:ext>
            </a:extLst>
          </p:cNvPr>
          <p:cNvSpPr>
            <a:spLocks noGrp="1"/>
          </p:cNvSpPr>
          <p:nvPr/>
        </p:nvSpPr>
        <p:spPr>
          <a:xfrm>
            <a:off x="704850" y="295275"/>
            <a:ext cx="2476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647085"/>
                </a:solidFill>
                <a:latin typeface="Aptos"/>
                <a:ea typeface="Aptos"/>
                <a:cs typeface="Aptos"/>
              </a:defRPr>
            </a:pPr>
            <a:r>
              <a:rPr sz="750" b="1">
                <a:solidFill>
                  <a:srgbClr val="647085"/>
                </a:solidFill>
                <a:latin typeface="Aptos"/>
                <a:ea typeface="Aptos"/>
                <a:cs typeface="Aptos"/>
              </a:rPr>
              <a:t>FIXED COMPARISON</a:t>
            </a:r>
          </a:p>
        </p:txBody>
      </p:sp>
      <p:sp>
        <p:nvSpPr>
          <p:cNvPr id="6" name="Rectangle 5">
            <a:extLst>
              <a:ext uri="{FF2B5EF4-FFF2-40B4-BE49-F238E27FC236}">
                <a16:creationId xmlns:a16="http://schemas.microsoft.com/office/drawing/2014/main" id="{20AA5112-EDAD-4AD4-A6A7-1D150505FC0A}"/>
              </a:ext>
            </a:extLst>
          </p:cNvPr>
          <p:cNvSpPr>
            <a:spLocks noGrp="1"/>
          </p:cNvSpPr>
          <p:nvPr/>
        </p:nvSpPr>
        <p:spPr>
          <a:xfrm>
            <a:off x="704850" y="476250"/>
            <a:ext cx="92392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42033"/>
                </a:solidFill>
                <a:latin typeface="Aptos"/>
                <a:ea typeface="Aptos"/>
                <a:cs typeface="Aptos"/>
              </a:defRPr>
            </a:pPr>
            <a:r>
              <a:rPr sz="1350" b="1">
                <a:solidFill>
                  <a:srgbClr val="142033"/>
                </a:solidFill>
                <a:latin typeface="Aptos"/>
                <a:ea typeface="Aptos"/>
                <a:cs typeface="Aptos"/>
              </a:rPr>
              <a:t>Adaptive tuning beat fixed cache behavior at 50%, 110%, and 150%.</a:t>
            </a:r>
          </a:p>
        </p:txBody>
      </p:sp>
      <p:sp>
        <p:nvSpPr>
          <p:cNvPr id="7" name="Rectangle 6">
            <a:extLst>
              <a:ext uri="{FF2B5EF4-FFF2-40B4-BE49-F238E27FC236}">
                <a16:creationId xmlns:a16="http://schemas.microsoft.com/office/drawing/2014/main" id="{FB587AC8-F0D3-4F9C-A50D-EFD5489547AD}"/>
              </a:ext>
            </a:extLst>
          </p:cNvPr>
          <p:cNvSpPr>
            <a:spLocks noGrp="1"/>
          </p:cNvSpPr>
          <p:nvPr/>
        </p:nvSpPr>
        <p:spPr>
          <a:xfrm>
            <a:off x="9334500" y="5962650"/>
            <a:ext cx="2286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75" b="0">
                <a:solidFill>
                  <a:srgbClr val="647085"/>
                </a:solidFill>
                <a:latin typeface="Aptos"/>
                <a:ea typeface="Aptos"/>
                <a:cs typeface="Aptos"/>
              </a:defRPr>
            </a:pPr>
            <a:r>
              <a:rPr sz="675" b="0">
                <a:solidFill>
                  <a:srgbClr val="647085"/>
                </a:solidFill>
                <a:latin typeface="Aptos"/>
                <a:ea typeface="Aptos"/>
                <a:cs typeface="Aptos"/>
              </a:rPr>
              <a:t>Adaptive DSR route cache | 06</a:t>
            </a:r>
          </a:p>
        </p:txBody>
      </p:sp>
      <p:pic>
        <p:nvPicPr>
          <p:cNvPr id="8" name="Picture 7"/>
          <p:cNvPicPr>
            <a:picLocks noChangeAspect="1"/>
          </p:cNvPicPr>
          <p:nvPr/>
        </p:nvPicPr>
        <p:blipFill>
          <a:blip r:embed="rId3"/>
          <a:stretch/>
        </p:blipFill>
        <p:spPr>
          <a:xfrm>
            <a:off x="514350" y="1181100"/>
            <a:ext cx="6667500" cy="4000500"/>
          </a:xfrm>
          <a:prstGeom prst="rect">
            <a:avLst/>
          </a:prstGeom>
        </p:spPr>
      </p:pic>
      <p:sp>
        <p:nvSpPr>
          <p:cNvPr id="9" name="Rectangle 8">
            <a:extLst>
              <a:ext uri="{FF2B5EF4-FFF2-40B4-BE49-F238E27FC236}">
                <a16:creationId xmlns:a16="http://schemas.microsoft.com/office/drawing/2014/main" id="{F76F592F-EE16-4F9E-B429-1BB9EF77EB01}"/>
              </a:ext>
            </a:extLst>
          </p:cNvPr>
          <p:cNvSpPr>
            <a:spLocks noGrp="1"/>
          </p:cNvSpPr>
          <p:nvPr/>
        </p:nvSpPr>
        <p:spPr>
          <a:xfrm>
            <a:off x="7620000" y="1504950"/>
            <a:ext cx="38100" cy="685800"/>
          </a:xfrm>
          <a:prstGeom prst="rect">
            <a:avLst/>
          </a:prstGeom>
          <a:solidFill>
            <a:srgbClr val="00A676"/>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B05B2B66-AAC9-4D52-90AA-D4275C1FEF79}"/>
              </a:ext>
            </a:extLst>
          </p:cNvPr>
          <p:cNvSpPr>
            <a:spLocks noGrp="1"/>
          </p:cNvSpPr>
          <p:nvPr/>
        </p:nvSpPr>
        <p:spPr>
          <a:xfrm>
            <a:off x="7772400" y="1485900"/>
            <a:ext cx="1619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42033"/>
                </a:solidFill>
                <a:latin typeface="Aptos"/>
                <a:ea typeface="Aptos"/>
                <a:cs typeface="Aptos"/>
              </a:defRPr>
            </a:pPr>
            <a:r>
              <a:rPr sz="2100" b="1">
                <a:solidFill>
                  <a:srgbClr val="142033"/>
                </a:solidFill>
                <a:latin typeface="Aptos"/>
                <a:ea typeface="Aptos"/>
                <a:cs typeface="Aptos"/>
              </a:rPr>
              <a:t>+173</a:t>
            </a:r>
          </a:p>
        </p:txBody>
      </p:sp>
      <p:sp>
        <p:nvSpPr>
          <p:cNvPr id="11" name="Rectangle 10">
            <a:extLst>
              <a:ext uri="{FF2B5EF4-FFF2-40B4-BE49-F238E27FC236}">
                <a16:creationId xmlns:a16="http://schemas.microsoft.com/office/drawing/2014/main" id="{EB304C51-A933-4888-913D-5B424FB72217}"/>
              </a:ext>
            </a:extLst>
          </p:cNvPr>
          <p:cNvSpPr>
            <a:spLocks noGrp="1"/>
          </p:cNvSpPr>
          <p:nvPr/>
        </p:nvSpPr>
        <p:spPr>
          <a:xfrm>
            <a:off x="7772400" y="1866900"/>
            <a:ext cx="1619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647085"/>
                </a:solidFill>
                <a:latin typeface="Aptos"/>
                <a:ea typeface="Aptos"/>
                <a:cs typeface="Aptos"/>
              </a:defRPr>
            </a:pPr>
            <a:r>
              <a:rPr sz="675" b="1">
                <a:solidFill>
                  <a:srgbClr val="647085"/>
                </a:solidFill>
                <a:latin typeface="Aptos"/>
                <a:ea typeface="Aptos"/>
                <a:cs typeface="Aptos"/>
              </a:rPr>
              <a:t>50% PACKET DELTA</a:t>
            </a:r>
          </a:p>
        </p:txBody>
      </p:sp>
      <p:sp>
        <p:nvSpPr>
          <p:cNvPr id="12" name="Rectangle 11">
            <a:extLst>
              <a:ext uri="{FF2B5EF4-FFF2-40B4-BE49-F238E27FC236}">
                <a16:creationId xmlns:a16="http://schemas.microsoft.com/office/drawing/2014/main" id="{AFEDAD74-B5BB-4C7A-9584-B43CA6906A48}"/>
              </a:ext>
            </a:extLst>
          </p:cNvPr>
          <p:cNvSpPr>
            <a:spLocks noGrp="1"/>
          </p:cNvSpPr>
          <p:nvPr/>
        </p:nvSpPr>
        <p:spPr>
          <a:xfrm>
            <a:off x="7772400" y="2038350"/>
            <a:ext cx="1809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647085"/>
                </a:solidFill>
                <a:latin typeface="Aptos"/>
                <a:ea typeface="Aptos"/>
                <a:cs typeface="Aptos"/>
              </a:defRPr>
            </a:pPr>
            <a:r>
              <a:rPr sz="675" b="0">
                <a:solidFill>
                  <a:srgbClr val="647085"/>
                </a:solidFill>
                <a:latin typeface="Aptos"/>
                <a:ea typeface="Aptos"/>
                <a:cs typeface="Aptos"/>
              </a:rPr>
              <a:t>adaptive vs fixed</a:t>
            </a:r>
          </a:p>
        </p:txBody>
      </p:sp>
      <p:sp>
        <p:nvSpPr>
          <p:cNvPr id="13" name="Rectangle 12">
            <a:extLst>
              <a:ext uri="{FF2B5EF4-FFF2-40B4-BE49-F238E27FC236}">
                <a16:creationId xmlns:a16="http://schemas.microsoft.com/office/drawing/2014/main" id="{89771D87-4516-49FB-B9DD-7B2433B15698}"/>
              </a:ext>
            </a:extLst>
          </p:cNvPr>
          <p:cNvSpPr>
            <a:spLocks noGrp="1"/>
          </p:cNvSpPr>
          <p:nvPr/>
        </p:nvSpPr>
        <p:spPr>
          <a:xfrm>
            <a:off x="7620000" y="2647950"/>
            <a:ext cx="38100" cy="685800"/>
          </a:xfrm>
          <a:prstGeom prst="rect">
            <a:avLst/>
          </a:prstGeom>
          <a:solidFill>
            <a:srgbClr val="2F80ED"/>
          </a:solidFill>
          <a:ln w="0">
            <a:solidFill>
              <a:srgbClr val="000000">
                <a:alpha val="0"/>
              </a:srgbClr>
            </a:solidFill>
            <a:prstDash val="solid"/>
          </a:ln>
        </p:spPr>
        <p:txBody>
          <a:bodyPr/>
          <a:lstStyle/>
          <a:p>
            <a:endParaRPr lang="en-US"/>
          </a:p>
        </p:txBody>
      </p:sp>
      <p:sp>
        <p:nvSpPr>
          <p:cNvPr id="14" name="Rectangle 13">
            <a:extLst>
              <a:ext uri="{FF2B5EF4-FFF2-40B4-BE49-F238E27FC236}">
                <a16:creationId xmlns:a16="http://schemas.microsoft.com/office/drawing/2014/main" id="{4C527BD9-1019-4EAF-AACB-E83B76448B0C}"/>
              </a:ext>
            </a:extLst>
          </p:cNvPr>
          <p:cNvSpPr>
            <a:spLocks noGrp="1"/>
          </p:cNvSpPr>
          <p:nvPr/>
        </p:nvSpPr>
        <p:spPr>
          <a:xfrm>
            <a:off x="7772400" y="2628900"/>
            <a:ext cx="1619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42033"/>
                </a:solidFill>
                <a:latin typeface="Aptos"/>
                <a:ea typeface="Aptos"/>
                <a:cs typeface="Aptos"/>
              </a:defRPr>
            </a:pPr>
            <a:r>
              <a:rPr sz="2100" b="1">
                <a:solidFill>
                  <a:srgbClr val="142033"/>
                </a:solidFill>
                <a:latin typeface="Aptos"/>
                <a:ea typeface="Aptos"/>
                <a:cs typeface="Aptos"/>
              </a:rPr>
              <a:t>+327</a:t>
            </a:r>
          </a:p>
        </p:txBody>
      </p:sp>
      <p:sp>
        <p:nvSpPr>
          <p:cNvPr id="15" name="Rectangle 14">
            <a:extLst>
              <a:ext uri="{FF2B5EF4-FFF2-40B4-BE49-F238E27FC236}">
                <a16:creationId xmlns:a16="http://schemas.microsoft.com/office/drawing/2014/main" id="{CF682E78-587C-4A66-BA1E-BF85C35DD9A8}"/>
              </a:ext>
            </a:extLst>
          </p:cNvPr>
          <p:cNvSpPr>
            <a:spLocks noGrp="1"/>
          </p:cNvSpPr>
          <p:nvPr/>
        </p:nvSpPr>
        <p:spPr>
          <a:xfrm>
            <a:off x="7772400" y="3009900"/>
            <a:ext cx="1619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647085"/>
                </a:solidFill>
                <a:latin typeface="Aptos"/>
                <a:ea typeface="Aptos"/>
                <a:cs typeface="Aptos"/>
              </a:defRPr>
            </a:pPr>
            <a:r>
              <a:rPr sz="675" b="1">
                <a:solidFill>
                  <a:srgbClr val="647085"/>
                </a:solidFill>
                <a:latin typeface="Aptos"/>
                <a:ea typeface="Aptos"/>
                <a:cs typeface="Aptos"/>
              </a:rPr>
              <a:t>110% PACKET DELTA</a:t>
            </a:r>
          </a:p>
        </p:txBody>
      </p:sp>
      <p:sp>
        <p:nvSpPr>
          <p:cNvPr id="16" name="Rectangle 15">
            <a:extLst>
              <a:ext uri="{FF2B5EF4-FFF2-40B4-BE49-F238E27FC236}">
                <a16:creationId xmlns:a16="http://schemas.microsoft.com/office/drawing/2014/main" id="{448BF3FF-E567-407B-B9D2-E15006929A6B}"/>
              </a:ext>
            </a:extLst>
          </p:cNvPr>
          <p:cNvSpPr>
            <a:spLocks noGrp="1"/>
          </p:cNvSpPr>
          <p:nvPr/>
        </p:nvSpPr>
        <p:spPr>
          <a:xfrm>
            <a:off x="7772400" y="3181350"/>
            <a:ext cx="1809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647085"/>
                </a:solidFill>
                <a:latin typeface="Aptos"/>
                <a:ea typeface="Aptos"/>
                <a:cs typeface="Aptos"/>
              </a:defRPr>
            </a:pPr>
            <a:r>
              <a:rPr sz="675" b="0">
                <a:solidFill>
                  <a:srgbClr val="647085"/>
                </a:solidFill>
                <a:latin typeface="Aptos"/>
                <a:ea typeface="Aptos"/>
                <a:cs typeface="Aptos"/>
              </a:rPr>
              <a:t>largest improvement</a:t>
            </a:r>
          </a:p>
        </p:txBody>
      </p:sp>
      <p:sp>
        <p:nvSpPr>
          <p:cNvPr id="17" name="Rectangle 16">
            <a:extLst>
              <a:ext uri="{FF2B5EF4-FFF2-40B4-BE49-F238E27FC236}">
                <a16:creationId xmlns:a16="http://schemas.microsoft.com/office/drawing/2014/main" id="{6D7F4B38-804E-4FF2-994D-4EC3A1F488BD}"/>
              </a:ext>
            </a:extLst>
          </p:cNvPr>
          <p:cNvSpPr>
            <a:spLocks noGrp="1"/>
          </p:cNvSpPr>
          <p:nvPr/>
        </p:nvSpPr>
        <p:spPr>
          <a:xfrm>
            <a:off x="7620000" y="3790950"/>
            <a:ext cx="38100" cy="685800"/>
          </a:xfrm>
          <a:prstGeom prst="rect">
            <a:avLst/>
          </a:prstGeom>
          <a:solidFill>
            <a:srgbClr val="DC2626"/>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69C98A02-40CB-4C53-B923-8C7B249330F8}"/>
              </a:ext>
            </a:extLst>
          </p:cNvPr>
          <p:cNvSpPr>
            <a:spLocks noGrp="1"/>
          </p:cNvSpPr>
          <p:nvPr/>
        </p:nvSpPr>
        <p:spPr>
          <a:xfrm>
            <a:off x="7772400" y="3771900"/>
            <a:ext cx="1619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42033"/>
                </a:solidFill>
                <a:latin typeface="Aptos"/>
                <a:ea typeface="Aptos"/>
                <a:cs typeface="Aptos"/>
              </a:defRPr>
            </a:pPr>
            <a:r>
              <a:rPr sz="2100" b="1">
                <a:solidFill>
                  <a:srgbClr val="142033"/>
                </a:solidFill>
                <a:latin typeface="Aptos"/>
                <a:ea typeface="Aptos"/>
                <a:cs typeface="Aptos"/>
              </a:rPr>
              <a:t>-95</a:t>
            </a:r>
          </a:p>
        </p:txBody>
      </p:sp>
      <p:sp>
        <p:nvSpPr>
          <p:cNvPr id="19" name="Rectangle 18">
            <a:extLst>
              <a:ext uri="{FF2B5EF4-FFF2-40B4-BE49-F238E27FC236}">
                <a16:creationId xmlns:a16="http://schemas.microsoft.com/office/drawing/2014/main" id="{2209FE5B-0CF3-44E1-98BF-4E86B5BD480C}"/>
              </a:ext>
            </a:extLst>
          </p:cNvPr>
          <p:cNvSpPr>
            <a:spLocks noGrp="1"/>
          </p:cNvSpPr>
          <p:nvPr/>
        </p:nvSpPr>
        <p:spPr>
          <a:xfrm>
            <a:off x="7772400" y="4152900"/>
            <a:ext cx="1619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647085"/>
                </a:solidFill>
                <a:latin typeface="Aptos"/>
                <a:ea typeface="Aptos"/>
                <a:cs typeface="Aptos"/>
              </a:defRPr>
            </a:pPr>
            <a:r>
              <a:rPr sz="675" b="1">
                <a:solidFill>
                  <a:srgbClr val="647085"/>
                </a:solidFill>
                <a:latin typeface="Aptos"/>
                <a:ea typeface="Aptos"/>
                <a:cs typeface="Aptos"/>
              </a:rPr>
              <a:t>10% PACKET DELTA</a:t>
            </a:r>
          </a:p>
        </p:txBody>
      </p:sp>
      <p:sp>
        <p:nvSpPr>
          <p:cNvPr id="20" name="Rectangle 19">
            <a:extLst>
              <a:ext uri="{FF2B5EF4-FFF2-40B4-BE49-F238E27FC236}">
                <a16:creationId xmlns:a16="http://schemas.microsoft.com/office/drawing/2014/main" id="{C256590B-740C-47C6-8743-4DCB9346D495}"/>
              </a:ext>
            </a:extLst>
          </p:cNvPr>
          <p:cNvSpPr>
            <a:spLocks noGrp="1"/>
          </p:cNvSpPr>
          <p:nvPr/>
        </p:nvSpPr>
        <p:spPr>
          <a:xfrm>
            <a:off x="7772400" y="4324350"/>
            <a:ext cx="1809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647085"/>
                </a:solidFill>
                <a:latin typeface="Aptos"/>
                <a:ea typeface="Aptos"/>
                <a:cs typeface="Aptos"/>
              </a:defRPr>
            </a:pPr>
            <a:r>
              <a:rPr sz="675" b="0">
                <a:solidFill>
                  <a:srgbClr val="647085"/>
                </a:solidFill>
                <a:latin typeface="Aptos"/>
                <a:ea typeface="Aptos"/>
                <a:cs typeface="Aptos"/>
              </a:rPr>
              <a:t>low-end clamp loses</a:t>
            </a:r>
          </a:p>
        </p:txBody>
      </p:sp>
    </p:spTree>
    <p:extLst>
      <p:ext uri="{BB962C8B-B14F-4D97-AF65-F5344CB8AC3E}">
        <p14:creationId xmlns:p14="http://schemas.microsoft.com/office/powerpoint/2010/main" val="228344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66187C9-B641-4AF7-B146-68C551FD7F55}"/>
              </a:ext>
            </a:extLst>
          </p:cNvPr>
          <p:cNvSpPr>
            <a:spLocks noGrp="1"/>
          </p:cNvSpPr>
          <p:nvPr/>
        </p:nvSpPr>
        <p:spPr>
          <a:xfrm>
            <a:off x="0" y="0"/>
            <a:ext cx="12192000" cy="6858000"/>
          </a:xfrm>
          <a:prstGeom prst="rect">
            <a:avLst/>
          </a:prstGeom>
          <a:solidFill>
            <a:srgbClr val="F7FAFD"/>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35B0D038-BDE8-40E5-8373-1790475F3E24}"/>
              </a:ext>
            </a:extLst>
          </p:cNvPr>
          <p:cNvSpPr>
            <a:spLocks noGrp="1"/>
          </p:cNvSpPr>
          <p:nvPr/>
        </p:nvSpPr>
        <p:spPr>
          <a:xfrm>
            <a:off x="0" y="0"/>
            <a:ext cx="12192000" cy="819150"/>
          </a:xfrm>
          <a:prstGeom prst="rect">
            <a:avLst/>
          </a:prstGeom>
          <a:solidFill>
            <a:srgbClr val="FFFFF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0B1AA3A6-D480-4EDF-8C14-E35C5D66D5E1}"/>
              </a:ext>
            </a:extLst>
          </p:cNvPr>
          <p:cNvSpPr>
            <a:spLocks noGrp="1"/>
          </p:cNvSpPr>
          <p:nvPr/>
        </p:nvSpPr>
        <p:spPr>
          <a:xfrm>
            <a:off x="514350" y="819150"/>
            <a:ext cx="11163300" cy="9525"/>
          </a:xfrm>
          <a:prstGeom prst="rect">
            <a:avLst/>
          </a:prstGeom>
          <a:solidFill>
            <a:srgbClr val="D9E2EC"/>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1828FFB4-B8EC-4BD4-9C98-7F0A9CBF5CF0}"/>
              </a:ext>
            </a:extLst>
          </p:cNvPr>
          <p:cNvSpPr>
            <a:spLocks noGrp="1"/>
          </p:cNvSpPr>
          <p:nvPr/>
        </p:nvSpPr>
        <p:spPr>
          <a:xfrm>
            <a:off x="514350" y="323850"/>
            <a:ext cx="47625" cy="266700"/>
          </a:xfrm>
          <a:prstGeom prst="rect">
            <a:avLst/>
          </a:prstGeom>
          <a:solidFill>
            <a:srgbClr val="2F80ED"/>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FC4D3E83-93E4-46D5-94CD-93AD409287F6}"/>
              </a:ext>
            </a:extLst>
          </p:cNvPr>
          <p:cNvSpPr>
            <a:spLocks noGrp="1"/>
          </p:cNvSpPr>
          <p:nvPr/>
        </p:nvSpPr>
        <p:spPr>
          <a:xfrm>
            <a:off x="704850" y="295275"/>
            <a:ext cx="2476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647085"/>
                </a:solidFill>
                <a:latin typeface="Aptos"/>
                <a:ea typeface="Aptos"/>
                <a:cs typeface="Aptos"/>
              </a:defRPr>
            </a:pPr>
            <a:r>
              <a:rPr sz="750" b="1">
                <a:solidFill>
                  <a:srgbClr val="647085"/>
                </a:solidFill>
                <a:latin typeface="Aptos"/>
                <a:ea typeface="Aptos"/>
                <a:cs typeface="Aptos"/>
              </a:rPr>
              <a:t>TIME SERIES</a:t>
            </a:r>
          </a:p>
        </p:txBody>
      </p:sp>
      <p:sp>
        <p:nvSpPr>
          <p:cNvPr id="6" name="Rectangle 5">
            <a:extLst>
              <a:ext uri="{FF2B5EF4-FFF2-40B4-BE49-F238E27FC236}">
                <a16:creationId xmlns:a16="http://schemas.microsoft.com/office/drawing/2014/main" id="{A6A23515-AAF7-4653-A514-53500F1C9791}"/>
              </a:ext>
            </a:extLst>
          </p:cNvPr>
          <p:cNvSpPr>
            <a:spLocks noGrp="1"/>
          </p:cNvSpPr>
          <p:nvPr/>
        </p:nvSpPr>
        <p:spPr>
          <a:xfrm>
            <a:off x="704850" y="476250"/>
            <a:ext cx="92392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42033"/>
                </a:solidFill>
                <a:latin typeface="Aptos"/>
                <a:ea typeface="Aptos"/>
                <a:cs typeface="Aptos"/>
              </a:defRPr>
            </a:pPr>
            <a:r>
              <a:rPr sz="1350" b="1">
                <a:solidFill>
                  <a:srgbClr val="142033"/>
                </a:solidFill>
                <a:latin typeface="Aptos"/>
                <a:ea typeface="Aptos"/>
                <a:cs typeface="Aptos"/>
              </a:rPr>
              <a:t>Packet delivery starts after traffic begins and differs mainly during active seconds.</a:t>
            </a:r>
          </a:p>
        </p:txBody>
      </p:sp>
      <p:sp>
        <p:nvSpPr>
          <p:cNvPr id="7" name="Rectangle 6">
            <a:extLst>
              <a:ext uri="{FF2B5EF4-FFF2-40B4-BE49-F238E27FC236}">
                <a16:creationId xmlns:a16="http://schemas.microsoft.com/office/drawing/2014/main" id="{5225C0C9-FBC4-467C-B2AE-F970AAF53C6A}"/>
              </a:ext>
            </a:extLst>
          </p:cNvPr>
          <p:cNvSpPr>
            <a:spLocks noGrp="1"/>
          </p:cNvSpPr>
          <p:nvPr/>
        </p:nvSpPr>
        <p:spPr>
          <a:xfrm>
            <a:off x="9334500" y="5962650"/>
            <a:ext cx="2286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75" b="0">
                <a:solidFill>
                  <a:srgbClr val="647085"/>
                </a:solidFill>
                <a:latin typeface="Aptos"/>
                <a:ea typeface="Aptos"/>
                <a:cs typeface="Aptos"/>
              </a:defRPr>
            </a:pPr>
            <a:r>
              <a:rPr sz="675" b="0">
                <a:solidFill>
                  <a:srgbClr val="647085"/>
                </a:solidFill>
                <a:latin typeface="Aptos"/>
                <a:ea typeface="Aptos"/>
                <a:cs typeface="Aptos"/>
              </a:rPr>
              <a:t>Adaptive DSR route cache | 07</a:t>
            </a:r>
          </a:p>
        </p:txBody>
      </p:sp>
      <p:pic>
        <p:nvPicPr>
          <p:cNvPr id="8" name="Picture 7"/>
          <p:cNvPicPr>
            <a:picLocks noChangeAspect="1"/>
          </p:cNvPicPr>
          <p:nvPr/>
        </p:nvPicPr>
        <p:blipFill>
          <a:blip r:embed="rId3"/>
          <a:stretch/>
        </p:blipFill>
        <p:spPr>
          <a:xfrm>
            <a:off x="481853" y="1123950"/>
            <a:ext cx="7227794" cy="4095750"/>
          </a:xfrm>
          <a:prstGeom prst="rect">
            <a:avLst/>
          </a:prstGeom>
        </p:spPr>
      </p:pic>
      <p:sp>
        <p:nvSpPr>
          <p:cNvPr id="9" name="Rectangle 8">
            <a:extLst>
              <a:ext uri="{FF2B5EF4-FFF2-40B4-BE49-F238E27FC236}">
                <a16:creationId xmlns:a16="http://schemas.microsoft.com/office/drawing/2014/main" id="{E16A8230-C36C-44C2-A43E-A6769E6875B5}"/>
              </a:ext>
            </a:extLst>
          </p:cNvPr>
          <p:cNvSpPr>
            <a:spLocks noGrp="1"/>
          </p:cNvSpPr>
          <p:nvPr/>
        </p:nvSpPr>
        <p:spPr>
          <a:xfrm>
            <a:off x="8172450" y="1409700"/>
            <a:ext cx="2667000" cy="3143250"/>
          </a:xfrm>
          <a:prstGeom prst="rect">
            <a:avLst/>
          </a:prstGeom>
          <a:solidFill>
            <a:srgbClr val="FFFFFF"/>
          </a:solidFill>
          <a:ln w="9525">
            <a:solidFill>
              <a:srgbClr val="D9E2EC"/>
            </a:solidFill>
            <a:prstDash val="solid"/>
          </a:ln>
        </p:spPr>
        <p:txBody>
          <a:bodyPr/>
          <a:lstStyle/>
          <a:p>
            <a:endParaRPr lang="en-US"/>
          </a:p>
        </p:txBody>
      </p:sp>
      <p:sp>
        <p:nvSpPr>
          <p:cNvPr id="10" name="Rectangle 9">
            <a:extLst>
              <a:ext uri="{FF2B5EF4-FFF2-40B4-BE49-F238E27FC236}">
                <a16:creationId xmlns:a16="http://schemas.microsoft.com/office/drawing/2014/main" id="{862033A7-EEEA-4A8C-98DA-D35C32F361EF}"/>
              </a:ext>
            </a:extLst>
          </p:cNvPr>
          <p:cNvSpPr>
            <a:spLocks noGrp="1"/>
          </p:cNvSpPr>
          <p:nvPr/>
        </p:nvSpPr>
        <p:spPr>
          <a:xfrm>
            <a:off x="8496300" y="1752600"/>
            <a:ext cx="19050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F4E79"/>
                </a:solidFill>
                <a:latin typeface="Aptos"/>
                <a:ea typeface="Aptos"/>
                <a:cs typeface="Aptos"/>
              </a:defRPr>
            </a:pPr>
            <a:r>
              <a:rPr sz="1650" b="1">
                <a:solidFill>
                  <a:srgbClr val="1F4E79"/>
                </a:solidFill>
                <a:latin typeface="Aptos"/>
                <a:ea typeface="Aptos"/>
                <a:cs typeface="Aptos"/>
              </a:rPr>
              <a:t>How to read it</a:t>
            </a:r>
          </a:p>
        </p:txBody>
      </p:sp>
      <p:sp>
        <p:nvSpPr>
          <p:cNvPr id="11" name="Rectangle 10">
            <a:extLst>
              <a:ext uri="{FF2B5EF4-FFF2-40B4-BE49-F238E27FC236}">
                <a16:creationId xmlns:a16="http://schemas.microsoft.com/office/drawing/2014/main" id="{7FB36512-F511-431F-AD95-18245A29B417}"/>
              </a:ext>
            </a:extLst>
          </p:cNvPr>
          <p:cNvSpPr>
            <a:spLocks noGrp="1"/>
          </p:cNvSpPr>
          <p:nvPr/>
        </p:nvSpPr>
        <p:spPr>
          <a:xfrm>
            <a:off x="8496300" y="2247900"/>
            <a:ext cx="1943100" cy="1809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42033"/>
                </a:solidFill>
                <a:latin typeface="Aptos"/>
                <a:ea typeface="Aptos"/>
                <a:cs typeface="Aptos"/>
              </a:defRPr>
            </a:pPr>
            <a:r>
              <a:rPr sz="1200" b="0">
                <a:solidFill>
                  <a:srgbClr val="142033"/>
                </a:solidFill>
                <a:latin typeface="Aptos"/>
                <a:ea typeface="Aptos"/>
                <a:cs typeface="Aptos"/>
              </a:rPr>
              <a:t>Rows are one simulated second. Traffic starts around 100 s, so the first half of each metrics file is intentionally zero. The comparisons use total packets and average kbps across the full 200 s for consistency with the default ns-3 example.</a:t>
            </a:r>
          </a:p>
        </p:txBody>
      </p:sp>
    </p:spTree>
    <p:extLst>
      <p:ext uri="{BB962C8B-B14F-4D97-AF65-F5344CB8AC3E}">
        <p14:creationId xmlns:p14="http://schemas.microsoft.com/office/powerpoint/2010/main" val="217323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DBA6A247-AF9C-46CB-A8BF-35351DD64905}"/>
              </a:ext>
            </a:extLst>
          </p:cNvPr>
          <p:cNvSpPr>
            <a:spLocks noGrp="1"/>
          </p:cNvSpPr>
          <p:nvPr/>
        </p:nvSpPr>
        <p:spPr>
          <a:xfrm>
            <a:off x="0" y="0"/>
            <a:ext cx="12192000" cy="6858000"/>
          </a:xfrm>
          <a:prstGeom prst="rect">
            <a:avLst/>
          </a:prstGeom>
          <a:solidFill>
            <a:srgbClr val="F7FAFD"/>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CFF32C00-AD00-4072-BF47-706CEC829725}"/>
              </a:ext>
            </a:extLst>
          </p:cNvPr>
          <p:cNvSpPr>
            <a:spLocks noGrp="1"/>
          </p:cNvSpPr>
          <p:nvPr/>
        </p:nvSpPr>
        <p:spPr>
          <a:xfrm>
            <a:off x="0" y="0"/>
            <a:ext cx="12192000" cy="819150"/>
          </a:xfrm>
          <a:prstGeom prst="rect">
            <a:avLst/>
          </a:prstGeom>
          <a:solidFill>
            <a:srgbClr val="FFFFF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1A9D9568-540E-422F-B5FE-09B66C7DDF1F}"/>
              </a:ext>
            </a:extLst>
          </p:cNvPr>
          <p:cNvSpPr>
            <a:spLocks noGrp="1"/>
          </p:cNvSpPr>
          <p:nvPr/>
        </p:nvSpPr>
        <p:spPr>
          <a:xfrm>
            <a:off x="514350" y="819150"/>
            <a:ext cx="11163300" cy="9525"/>
          </a:xfrm>
          <a:prstGeom prst="rect">
            <a:avLst/>
          </a:prstGeom>
          <a:solidFill>
            <a:srgbClr val="D9E2EC"/>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DBB2C46B-D4B7-49F9-A17B-E93F3BDDB447}"/>
              </a:ext>
            </a:extLst>
          </p:cNvPr>
          <p:cNvSpPr>
            <a:spLocks noGrp="1"/>
          </p:cNvSpPr>
          <p:nvPr/>
        </p:nvSpPr>
        <p:spPr>
          <a:xfrm>
            <a:off x="514350" y="323850"/>
            <a:ext cx="47625" cy="266700"/>
          </a:xfrm>
          <a:prstGeom prst="rect">
            <a:avLst/>
          </a:prstGeom>
          <a:solidFill>
            <a:srgbClr val="2F80ED"/>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00C3E0B4-FBDB-4FE5-BD07-D70ABB6E68DA}"/>
              </a:ext>
            </a:extLst>
          </p:cNvPr>
          <p:cNvSpPr>
            <a:spLocks noGrp="1"/>
          </p:cNvSpPr>
          <p:nvPr/>
        </p:nvSpPr>
        <p:spPr>
          <a:xfrm>
            <a:off x="704850" y="295275"/>
            <a:ext cx="2476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647085"/>
                </a:solidFill>
                <a:latin typeface="Aptos"/>
                <a:ea typeface="Aptos"/>
                <a:cs typeface="Aptos"/>
              </a:defRPr>
            </a:pPr>
            <a:r>
              <a:rPr sz="750" b="1">
                <a:solidFill>
                  <a:srgbClr val="647085"/>
                </a:solidFill>
                <a:latin typeface="Aptos"/>
                <a:ea typeface="Aptos"/>
                <a:cs typeface="Aptos"/>
              </a:rPr>
              <a:t>TAKEAWAYS</a:t>
            </a:r>
          </a:p>
        </p:txBody>
      </p:sp>
      <p:sp>
        <p:nvSpPr>
          <p:cNvPr id="6" name="Rectangle 5">
            <a:extLst>
              <a:ext uri="{FF2B5EF4-FFF2-40B4-BE49-F238E27FC236}">
                <a16:creationId xmlns:a16="http://schemas.microsoft.com/office/drawing/2014/main" id="{19F6CCA2-3674-4ACE-AAC5-730724FBA5BF}"/>
              </a:ext>
            </a:extLst>
          </p:cNvPr>
          <p:cNvSpPr>
            <a:spLocks noGrp="1"/>
          </p:cNvSpPr>
          <p:nvPr/>
        </p:nvSpPr>
        <p:spPr>
          <a:xfrm>
            <a:off x="704850" y="476250"/>
            <a:ext cx="92392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42033"/>
                </a:solidFill>
                <a:latin typeface="Aptos"/>
                <a:ea typeface="Aptos"/>
                <a:cs typeface="Aptos"/>
              </a:defRPr>
            </a:pPr>
            <a:r>
              <a:rPr sz="1350" b="1">
                <a:solidFill>
                  <a:srgbClr val="142033"/>
                </a:solidFill>
                <a:latin typeface="Aptos"/>
                <a:ea typeface="Aptos"/>
                <a:cs typeface="Aptos"/>
              </a:rPr>
              <a:t>Adaptive cache timing looks promising, but it needs seed and scenario sweeps next.</a:t>
            </a:r>
          </a:p>
        </p:txBody>
      </p:sp>
      <p:sp>
        <p:nvSpPr>
          <p:cNvPr id="7" name="Rectangle 6">
            <a:extLst>
              <a:ext uri="{FF2B5EF4-FFF2-40B4-BE49-F238E27FC236}">
                <a16:creationId xmlns:a16="http://schemas.microsoft.com/office/drawing/2014/main" id="{5367C713-1224-4919-9AF2-27D120509E44}"/>
              </a:ext>
            </a:extLst>
          </p:cNvPr>
          <p:cNvSpPr>
            <a:spLocks noGrp="1"/>
          </p:cNvSpPr>
          <p:nvPr/>
        </p:nvSpPr>
        <p:spPr>
          <a:xfrm>
            <a:off x="9334500" y="5962650"/>
            <a:ext cx="2286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75" b="0">
                <a:solidFill>
                  <a:srgbClr val="647085"/>
                </a:solidFill>
                <a:latin typeface="Aptos"/>
                <a:ea typeface="Aptos"/>
                <a:cs typeface="Aptos"/>
              </a:defRPr>
            </a:pPr>
            <a:r>
              <a:rPr sz="675" b="0">
                <a:solidFill>
                  <a:srgbClr val="647085"/>
                </a:solidFill>
                <a:latin typeface="Aptos"/>
                <a:ea typeface="Aptos"/>
                <a:cs typeface="Aptos"/>
              </a:rPr>
              <a:t>Adaptive DSR route cache | 08</a:t>
            </a:r>
          </a:p>
        </p:txBody>
      </p:sp>
      <p:sp>
        <p:nvSpPr>
          <p:cNvPr id="8" name="Rectangle 7">
            <a:extLst>
              <a:ext uri="{FF2B5EF4-FFF2-40B4-BE49-F238E27FC236}">
                <a16:creationId xmlns:a16="http://schemas.microsoft.com/office/drawing/2014/main" id="{895A75EB-D3D1-4C77-B02A-A5CA13F1AEB9}"/>
              </a:ext>
            </a:extLst>
          </p:cNvPr>
          <p:cNvSpPr>
            <a:spLocks noGrp="1"/>
          </p:cNvSpPr>
          <p:nvPr/>
        </p:nvSpPr>
        <p:spPr>
          <a:xfrm>
            <a:off x="762000" y="1295400"/>
            <a:ext cx="4762500" cy="3733800"/>
          </a:xfrm>
          <a:prstGeom prst="rect">
            <a:avLst/>
          </a:prstGeom>
          <a:solidFill>
            <a:srgbClr val="FFFFFF"/>
          </a:solidFill>
          <a:ln w="9525">
            <a:solidFill>
              <a:srgbClr val="D9E2EC"/>
            </a:solidFill>
            <a:prstDash val="solid"/>
          </a:ln>
        </p:spPr>
        <p:txBody>
          <a:bodyPr/>
          <a:lstStyle/>
          <a:p>
            <a:endParaRPr lang="en-US"/>
          </a:p>
        </p:txBody>
      </p:sp>
      <p:sp>
        <p:nvSpPr>
          <p:cNvPr id="9" name="Rectangle 8">
            <a:extLst>
              <a:ext uri="{FF2B5EF4-FFF2-40B4-BE49-F238E27FC236}">
                <a16:creationId xmlns:a16="http://schemas.microsoft.com/office/drawing/2014/main" id="{6E57FE56-6800-4D28-9A7B-398A8C80ADDC}"/>
              </a:ext>
            </a:extLst>
          </p:cNvPr>
          <p:cNvSpPr>
            <a:spLocks noGrp="1"/>
          </p:cNvSpPr>
          <p:nvPr/>
        </p:nvSpPr>
        <p:spPr>
          <a:xfrm>
            <a:off x="1066800" y="1581150"/>
            <a:ext cx="3619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F4E79"/>
                </a:solidFill>
                <a:latin typeface="Aptos"/>
                <a:ea typeface="Aptos"/>
                <a:cs typeface="Aptos"/>
              </a:defRPr>
            </a:pPr>
            <a:r>
              <a:rPr sz="1650" b="1">
                <a:solidFill>
                  <a:srgbClr val="1F4E79"/>
                </a:solidFill>
                <a:latin typeface="Aptos"/>
                <a:ea typeface="Aptos"/>
                <a:cs typeface="Aptos"/>
              </a:rPr>
              <a:t>What the experiment suggests</a:t>
            </a:r>
          </a:p>
        </p:txBody>
      </p:sp>
      <p:sp>
        <p:nvSpPr>
          <p:cNvPr id="10" name="Oval 9">
            <a:extLst>
              <a:ext uri="{FF2B5EF4-FFF2-40B4-BE49-F238E27FC236}">
                <a16:creationId xmlns:a16="http://schemas.microsoft.com/office/drawing/2014/main" id="{AA80BD0E-4103-40CE-A9E9-A09BB9353392}"/>
              </a:ext>
            </a:extLst>
          </p:cNvPr>
          <p:cNvSpPr>
            <a:spLocks noGrp="1"/>
          </p:cNvSpPr>
          <p:nvPr/>
        </p:nvSpPr>
        <p:spPr>
          <a:xfrm>
            <a:off x="1104900" y="2266950"/>
            <a:ext cx="76200" cy="76200"/>
          </a:xfrm>
          <a:prstGeom prst="ellipse">
            <a:avLst/>
          </a:prstGeom>
          <a:solidFill>
            <a:srgbClr val="00A676"/>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5C457406-86DC-4838-9EF1-295A3F134301}"/>
              </a:ext>
            </a:extLst>
          </p:cNvPr>
          <p:cNvSpPr>
            <a:spLocks noGrp="1"/>
          </p:cNvSpPr>
          <p:nvPr/>
        </p:nvSpPr>
        <p:spPr>
          <a:xfrm>
            <a:off x="1314450" y="2190750"/>
            <a:ext cx="423862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42033"/>
                </a:solidFill>
                <a:latin typeface="Aptos"/>
                <a:ea typeface="Aptos"/>
                <a:cs typeface="Aptos"/>
              </a:defRPr>
            </a:pPr>
            <a:r>
              <a:rPr sz="1125" b="0">
                <a:solidFill>
                  <a:srgbClr val="142033"/>
                </a:solidFill>
                <a:latin typeface="Aptos"/>
                <a:ea typeface="Aptos"/>
                <a:cs typeface="Aptos"/>
              </a:rPr>
              <a:t>A moderate effective timeout outperformed both very short and long-lived cache assumptions.</a:t>
            </a:r>
          </a:p>
        </p:txBody>
      </p:sp>
      <p:sp>
        <p:nvSpPr>
          <p:cNvPr id="12" name="Oval 11">
            <a:extLst>
              <a:ext uri="{FF2B5EF4-FFF2-40B4-BE49-F238E27FC236}">
                <a16:creationId xmlns:a16="http://schemas.microsoft.com/office/drawing/2014/main" id="{CC47EEC9-9EE7-45AF-A733-0849D969E90B}"/>
              </a:ext>
            </a:extLst>
          </p:cNvPr>
          <p:cNvSpPr>
            <a:spLocks noGrp="1"/>
          </p:cNvSpPr>
          <p:nvPr/>
        </p:nvSpPr>
        <p:spPr>
          <a:xfrm>
            <a:off x="1104900" y="3067050"/>
            <a:ext cx="76200" cy="76200"/>
          </a:xfrm>
          <a:prstGeom prst="ellipse">
            <a:avLst/>
          </a:prstGeom>
          <a:solidFill>
            <a:srgbClr val="2F80ED"/>
          </a:solidFill>
          <a:ln w="0">
            <a:solidFill>
              <a:srgbClr val="000000">
                <a:alpha val="0"/>
              </a:srgbClr>
            </a:solidFill>
            <a:prstDash val="solid"/>
          </a:ln>
        </p:spPr>
        <p:txBody>
          <a:bodyPr/>
          <a:lstStyle/>
          <a:p>
            <a:endParaRPr lang="en-US"/>
          </a:p>
        </p:txBody>
      </p:sp>
      <p:sp>
        <p:nvSpPr>
          <p:cNvPr id="13" name="Rectangle 12">
            <a:extLst>
              <a:ext uri="{FF2B5EF4-FFF2-40B4-BE49-F238E27FC236}">
                <a16:creationId xmlns:a16="http://schemas.microsoft.com/office/drawing/2014/main" id="{1EF21435-306E-4E24-9279-310E5FA450CE}"/>
              </a:ext>
            </a:extLst>
          </p:cNvPr>
          <p:cNvSpPr>
            <a:spLocks noGrp="1"/>
          </p:cNvSpPr>
          <p:nvPr/>
        </p:nvSpPr>
        <p:spPr>
          <a:xfrm>
            <a:off x="1314450" y="2990850"/>
            <a:ext cx="423862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42033"/>
                </a:solidFill>
                <a:latin typeface="Aptos"/>
                <a:ea typeface="Aptos"/>
                <a:cs typeface="Aptos"/>
              </a:defRPr>
            </a:pPr>
            <a:r>
              <a:rPr sz="1125" b="0">
                <a:solidFill>
                  <a:srgbClr val="142033"/>
                </a:solidFill>
                <a:latin typeface="Aptos"/>
                <a:ea typeface="Aptos"/>
                <a:cs typeface="Aptos"/>
              </a:rPr>
              <a:t>The adaptive policy helped most when fixed DSR would otherwise keep stale cache state too long.</a:t>
            </a:r>
          </a:p>
        </p:txBody>
      </p:sp>
      <p:sp>
        <p:nvSpPr>
          <p:cNvPr id="14" name="Oval 13">
            <a:extLst>
              <a:ext uri="{FF2B5EF4-FFF2-40B4-BE49-F238E27FC236}">
                <a16:creationId xmlns:a16="http://schemas.microsoft.com/office/drawing/2014/main" id="{DE8DCB36-47D7-4A40-8C63-208044F4D15A}"/>
              </a:ext>
            </a:extLst>
          </p:cNvPr>
          <p:cNvSpPr>
            <a:spLocks noGrp="1"/>
          </p:cNvSpPr>
          <p:nvPr/>
        </p:nvSpPr>
        <p:spPr>
          <a:xfrm>
            <a:off x="1104900" y="3867150"/>
            <a:ext cx="76200" cy="76200"/>
          </a:xfrm>
          <a:prstGeom prst="ellipse">
            <a:avLst/>
          </a:prstGeom>
          <a:solidFill>
            <a:srgbClr val="F59E0B"/>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2BDDABAE-1139-4B96-A470-F26530EC0B67}"/>
              </a:ext>
            </a:extLst>
          </p:cNvPr>
          <p:cNvSpPr>
            <a:spLocks noGrp="1"/>
          </p:cNvSpPr>
          <p:nvPr/>
        </p:nvSpPr>
        <p:spPr>
          <a:xfrm>
            <a:off x="1314450" y="3790950"/>
            <a:ext cx="423862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42033"/>
                </a:solidFill>
                <a:latin typeface="Aptos"/>
                <a:ea typeface="Aptos"/>
                <a:cs typeface="Aptos"/>
              </a:defRPr>
            </a:pPr>
            <a:r>
              <a:rPr sz="1125" b="0">
                <a:solidFill>
                  <a:srgbClr val="142033"/>
                </a:solidFill>
                <a:latin typeface="Aptos"/>
                <a:ea typeface="Aptos"/>
                <a:cs typeface="Aptos"/>
              </a:rPr>
              <a:t>The 10% case exposes the impact of clamp bounds, so low-end tuning deserves separate attention.</a:t>
            </a:r>
          </a:p>
        </p:txBody>
      </p:sp>
      <p:sp>
        <p:nvSpPr>
          <p:cNvPr id="16" name="Rectangle 15">
            <a:extLst>
              <a:ext uri="{FF2B5EF4-FFF2-40B4-BE49-F238E27FC236}">
                <a16:creationId xmlns:a16="http://schemas.microsoft.com/office/drawing/2014/main" id="{C00F4B41-984E-4E1B-8994-B4D2C0C23C7D}"/>
              </a:ext>
            </a:extLst>
          </p:cNvPr>
          <p:cNvSpPr>
            <a:spLocks noGrp="1"/>
          </p:cNvSpPr>
          <p:nvPr/>
        </p:nvSpPr>
        <p:spPr>
          <a:xfrm>
            <a:off x="6324600" y="1295400"/>
            <a:ext cx="4572000" cy="3733800"/>
          </a:xfrm>
          <a:prstGeom prst="rect">
            <a:avLst/>
          </a:prstGeom>
          <a:solidFill>
            <a:srgbClr val="F4F8FC"/>
          </a:solidFill>
          <a:ln w="9525">
            <a:solidFill>
              <a:srgbClr val="D9E2EC"/>
            </a:solidFill>
            <a:prstDash val="solid"/>
          </a:ln>
        </p:spPr>
        <p:txBody>
          <a:bodyPr/>
          <a:lstStyle/>
          <a:p>
            <a:endParaRPr lang="en-US"/>
          </a:p>
        </p:txBody>
      </p:sp>
      <p:sp>
        <p:nvSpPr>
          <p:cNvPr id="17" name="Rectangle 16">
            <a:extLst>
              <a:ext uri="{FF2B5EF4-FFF2-40B4-BE49-F238E27FC236}">
                <a16:creationId xmlns:a16="http://schemas.microsoft.com/office/drawing/2014/main" id="{73CAAD56-4607-4DD0-9A8C-7E18F92FDB7E}"/>
              </a:ext>
            </a:extLst>
          </p:cNvPr>
          <p:cNvSpPr>
            <a:spLocks noGrp="1"/>
          </p:cNvSpPr>
          <p:nvPr/>
        </p:nvSpPr>
        <p:spPr>
          <a:xfrm>
            <a:off x="6667500" y="1581150"/>
            <a:ext cx="2476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F4E79"/>
                </a:solidFill>
                <a:latin typeface="Aptos"/>
                <a:ea typeface="Aptos"/>
                <a:cs typeface="Aptos"/>
              </a:defRPr>
            </a:pPr>
            <a:r>
              <a:rPr sz="1650" b="1">
                <a:solidFill>
                  <a:srgbClr val="1F4E79"/>
                </a:solidFill>
                <a:latin typeface="Aptos"/>
                <a:ea typeface="Aptos"/>
                <a:cs typeface="Aptos"/>
              </a:rPr>
              <a:t>Future work</a:t>
            </a:r>
          </a:p>
        </p:txBody>
      </p:sp>
      <p:sp>
        <p:nvSpPr>
          <p:cNvPr id="18" name="Rectangle 17">
            <a:extLst>
              <a:ext uri="{FF2B5EF4-FFF2-40B4-BE49-F238E27FC236}">
                <a16:creationId xmlns:a16="http://schemas.microsoft.com/office/drawing/2014/main" id="{5735A300-8843-4CAF-A76D-ED2D66E4F29E}"/>
              </a:ext>
            </a:extLst>
          </p:cNvPr>
          <p:cNvSpPr>
            <a:spLocks noGrp="1"/>
          </p:cNvSpPr>
          <p:nvPr/>
        </p:nvSpPr>
        <p:spPr>
          <a:xfrm>
            <a:off x="6667500" y="2152650"/>
            <a:ext cx="3429000" cy="2095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42033"/>
                </a:solidFill>
                <a:latin typeface="Aptos"/>
                <a:ea typeface="Aptos"/>
                <a:cs typeface="Aptos"/>
              </a:defRPr>
            </a:pPr>
            <a:r>
              <a:rPr sz="1425" b="0">
                <a:solidFill>
                  <a:srgbClr val="142033"/>
                </a:solidFill>
                <a:latin typeface="Aptos"/>
                <a:ea typeface="Aptos"/>
                <a:cs typeface="Aptos"/>
              </a:rPr>
              <a:t>Repeat runs across random seeds</a:t>
            </a:r>
          </a:p>
          <a:p>
            <a:pPr algn="l">
              <a:defRPr sz="1425" b="0">
                <a:solidFill>
                  <a:srgbClr val="142033"/>
                </a:solidFill>
                <a:latin typeface="Aptos"/>
                <a:ea typeface="Aptos"/>
                <a:cs typeface="Aptos"/>
              </a:defRPr>
            </a:pPr>
            <a:r>
              <a:rPr sz="1425" b="0">
                <a:solidFill>
                  <a:srgbClr val="142033"/>
                </a:solidFill>
                <a:latin typeface="Aptos"/>
                <a:ea typeface="Aptos"/>
                <a:cs typeface="Aptos"/>
              </a:rPr>
              <a:t>Sweep cacheReferenceSpeed independently</a:t>
            </a:r>
          </a:p>
          <a:p>
            <a:pPr algn="l">
              <a:defRPr sz="1425" b="0">
                <a:solidFill>
                  <a:srgbClr val="142033"/>
                </a:solidFill>
                <a:latin typeface="Aptos"/>
                <a:ea typeface="Aptos"/>
                <a:cs typeface="Aptos"/>
              </a:defRPr>
            </a:pPr>
            <a:r>
              <a:rPr sz="1425" b="0">
                <a:solidFill>
                  <a:srgbClr val="142033"/>
                </a:solidFill>
                <a:latin typeface="Aptos"/>
                <a:ea typeface="Aptos"/>
                <a:cs typeface="Aptos"/>
              </a:rPr>
              <a:t>Compare LinkCache and PathCache</a:t>
            </a:r>
          </a:p>
          <a:p>
            <a:pPr algn="l">
              <a:defRPr sz="1425" b="0">
                <a:solidFill>
                  <a:srgbClr val="142033"/>
                </a:solidFill>
                <a:latin typeface="Aptos"/>
                <a:ea typeface="Aptos"/>
                <a:cs typeface="Aptos"/>
              </a:defRPr>
            </a:pPr>
            <a:r>
              <a:rPr sz="1425" b="0">
                <a:solidFill>
                  <a:srgbClr val="142033"/>
                </a:solidFill>
                <a:latin typeface="Aptos"/>
                <a:ea typeface="Aptos"/>
                <a:cs typeface="Aptos"/>
              </a:rPr>
              <a:t>Sweep node speed and node density</a:t>
            </a:r>
          </a:p>
          <a:p>
            <a:pPr algn="l">
              <a:defRPr sz="1425" b="0">
                <a:solidFill>
                  <a:srgbClr val="142033"/>
                </a:solidFill>
                <a:latin typeface="Aptos"/>
                <a:ea typeface="Aptos"/>
                <a:cs typeface="Aptos"/>
              </a:defRPr>
            </a:pPr>
            <a:r>
              <a:rPr sz="1425" b="0">
                <a:solidFill>
                  <a:srgbClr val="142033"/>
                </a:solidFill>
                <a:latin typeface="Aptos"/>
                <a:ea typeface="Aptos"/>
                <a:cs typeface="Aptos"/>
              </a:rPr>
              <a:t>Track routing overhead alongside delivery</a:t>
            </a:r>
          </a:p>
        </p:txBody>
      </p:sp>
      <p:sp>
        <p:nvSpPr>
          <p:cNvPr id="19" name="Rectangle 18">
            <a:extLst>
              <a:ext uri="{FF2B5EF4-FFF2-40B4-BE49-F238E27FC236}">
                <a16:creationId xmlns:a16="http://schemas.microsoft.com/office/drawing/2014/main" id="{82B25E46-AB1C-4605-B457-869FEE35521D}"/>
              </a:ext>
            </a:extLst>
          </p:cNvPr>
          <p:cNvSpPr>
            <a:spLocks noGrp="1"/>
          </p:cNvSpPr>
          <p:nvPr/>
        </p:nvSpPr>
        <p:spPr>
          <a:xfrm>
            <a:off x="990600" y="5505450"/>
            <a:ext cx="38100" cy="685800"/>
          </a:xfrm>
          <a:prstGeom prst="rect">
            <a:avLst/>
          </a:prstGeom>
          <a:solidFill>
            <a:srgbClr val="2F80ED"/>
          </a:solidFill>
          <a:ln w="0">
            <a:solidFill>
              <a:srgbClr val="000000">
                <a:alpha val="0"/>
              </a:srgbClr>
            </a:solidFill>
            <a:prstDash val="solid"/>
          </a:ln>
        </p:spPr>
        <p:txBody>
          <a:bodyPr/>
          <a:lstStyle/>
          <a:p>
            <a:endParaRPr lang="en-US"/>
          </a:p>
        </p:txBody>
      </p:sp>
      <p:sp>
        <p:nvSpPr>
          <p:cNvPr id="20" name="Rectangle 19">
            <a:extLst>
              <a:ext uri="{FF2B5EF4-FFF2-40B4-BE49-F238E27FC236}">
                <a16:creationId xmlns:a16="http://schemas.microsoft.com/office/drawing/2014/main" id="{9195B1FD-4411-45BF-BA2B-704C1184C3A6}"/>
              </a:ext>
            </a:extLst>
          </p:cNvPr>
          <p:cNvSpPr>
            <a:spLocks noGrp="1"/>
          </p:cNvSpPr>
          <p:nvPr/>
        </p:nvSpPr>
        <p:spPr>
          <a:xfrm>
            <a:off x="1143000" y="5486400"/>
            <a:ext cx="1619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42033"/>
                </a:solidFill>
                <a:latin typeface="Aptos"/>
                <a:ea typeface="Aptos"/>
                <a:cs typeface="Aptos"/>
              </a:defRPr>
            </a:pPr>
            <a:r>
              <a:rPr sz="2100" b="1">
                <a:solidFill>
                  <a:srgbClr val="142033"/>
                </a:solidFill>
                <a:latin typeface="Aptos"/>
                <a:ea typeface="Aptos"/>
                <a:cs typeface="Aptos"/>
              </a:rPr>
              <a:t>3/4</a:t>
            </a:r>
          </a:p>
        </p:txBody>
      </p:sp>
      <p:sp>
        <p:nvSpPr>
          <p:cNvPr id="21" name="Rectangle 20">
            <a:extLst>
              <a:ext uri="{FF2B5EF4-FFF2-40B4-BE49-F238E27FC236}">
                <a16:creationId xmlns:a16="http://schemas.microsoft.com/office/drawing/2014/main" id="{D29CC835-211C-4B36-898F-86627FE3700E}"/>
              </a:ext>
            </a:extLst>
          </p:cNvPr>
          <p:cNvSpPr>
            <a:spLocks noGrp="1"/>
          </p:cNvSpPr>
          <p:nvPr/>
        </p:nvSpPr>
        <p:spPr>
          <a:xfrm>
            <a:off x="1143000" y="5867400"/>
            <a:ext cx="1619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647085"/>
                </a:solidFill>
                <a:latin typeface="Aptos"/>
                <a:ea typeface="Aptos"/>
                <a:cs typeface="Aptos"/>
              </a:defRPr>
            </a:pPr>
            <a:r>
              <a:rPr sz="675" b="1">
                <a:solidFill>
                  <a:srgbClr val="647085"/>
                </a:solidFill>
                <a:latin typeface="Aptos"/>
                <a:ea typeface="Aptos"/>
                <a:cs typeface="Aptos"/>
              </a:rPr>
              <a:t>ADAPTIVE WINS</a:t>
            </a:r>
          </a:p>
        </p:txBody>
      </p:sp>
      <p:sp>
        <p:nvSpPr>
          <p:cNvPr id="22" name="Rectangle 21">
            <a:extLst>
              <a:ext uri="{FF2B5EF4-FFF2-40B4-BE49-F238E27FC236}">
                <a16:creationId xmlns:a16="http://schemas.microsoft.com/office/drawing/2014/main" id="{136D362F-3462-45A7-AB7D-1949F15D49EA}"/>
              </a:ext>
            </a:extLst>
          </p:cNvPr>
          <p:cNvSpPr>
            <a:spLocks noGrp="1"/>
          </p:cNvSpPr>
          <p:nvPr/>
        </p:nvSpPr>
        <p:spPr>
          <a:xfrm>
            <a:off x="1143000" y="6038850"/>
            <a:ext cx="1809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647085"/>
                </a:solidFill>
                <a:latin typeface="Aptos"/>
                <a:ea typeface="Aptos"/>
                <a:cs typeface="Aptos"/>
              </a:defRPr>
            </a:pPr>
            <a:r>
              <a:rPr sz="675" b="0">
                <a:solidFill>
                  <a:srgbClr val="647085"/>
                </a:solidFill>
                <a:latin typeface="Aptos"/>
                <a:ea typeface="Aptos"/>
                <a:cs typeface="Aptos"/>
              </a:rPr>
              <a:t>against fixed comparator</a:t>
            </a:r>
          </a:p>
        </p:txBody>
      </p:sp>
      <p:sp>
        <p:nvSpPr>
          <p:cNvPr id="23" name="Rectangle 22">
            <a:extLst>
              <a:ext uri="{FF2B5EF4-FFF2-40B4-BE49-F238E27FC236}">
                <a16:creationId xmlns:a16="http://schemas.microsoft.com/office/drawing/2014/main" id="{50E3DB59-493C-4E42-B9F9-9E39FC86664E}"/>
              </a:ext>
            </a:extLst>
          </p:cNvPr>
          <p:cNvSpPr>
            <a:spLocks noGrp="1"/>
          </p:cNvSpPr>
          <p:nvPr/>
        </p:nvSpPr>
        <p:spPr>
          <a:xfrm>
            <a:off x="3848100" y="5505450"/>
            <a:ext cx="38100" cy="685800"/>
          </a:xfrm>
          <a:prstGeom prst="rect">
            <a:avLst/>
          </a:prstGeom>
          <a:solidFill>
            <a:srgbClr val="00A676"/>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71A4F3D5-A416-4500-AEA5-0B4A1002109A}"/>
              </a:ext>
            </a:extLst>
          </p:cNvPr>
          <p:cNvSpPr>
            <a:spLocks noGrp="1"/>
          </p:cNvSpPr>
          <p:nvPr/>
        </p:nvSpPr>
        <p:spPr>
          <a:xfrm>
            <a:off x="4000500" y="5486400"/>
            <a:ext cx="1619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42033"/>
                </a:solidFill>
                <a:latin typeface="Aptos"/>
                <a:ea typeface="Aptos"/>
                <a:cs typeface="Aptos"/>
              </a:defRPr>
            </a:pPr>
            <a:r>
              <a:rPr sz="2100" b="1">
                <a:solidFill>
                  <a:srgbClr val="142033"/>
                </a:solidFill>
                <a:latin typeface="Aptos"/>
                <a:ea typeface="Aptos"/>
                <a:cs typeface="Aptos"/>
              </a:rPr>
              <a:t>50%</a:t>
            </a:r>
          </a:p>
        </p:txBody>
      </p:sp>
      <p:sp>
        <p:nvSpPr>
          <p:cNvPr id="25" name="Rectangle 24">
            <a:extLst>
              <a:ext uri="{FF2B5EF4-FFF2-40B4-BE49-F238E27FC236}">
                <a16:creationId xmlns:a16="http://schemas.microsoft.com/office/drawing/2014/main" id="{27809426-8508-496B-B16A-924B7FACA2A9}"/>
              </a:ext>
            </a:extLst>
          </p:cNvPr>
          <p:cNvSpPr>
            <a:spLocks noGrp="1"/>
          </p:cNvSpPr>
          <p:nvPr/>
        </p:nvSpPr>
        <p:spPr>
          <a:xfrm>
            <a:off x="4000500" y="5867400"/>
            <a:ext cx="1619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647085"/>
                </a:solidFill>
                <a:latin typeface="Aptos"/>
                <a:ea typeface="Aptos"/>
                <a:cs typeface="Aptos"/>
              </a:defRPr>
            </a:pPr>
            <a:r>
              <a:rPr sz="675" b="1">
                <a:solidFill>
                  <a:srgbClr val="647085"/>
                </a:solidFill>
                <a:latin typeface="Aptos"/>
                <a:ea typeface="Aptos"/>
                <a:cs typeface="Aptos"/>
              </a:rPr>
              <a:t>BEST SWEEP POINT</a:t>
            </a:r>
          </a:p>
        </p:txBody>
      </p:sp>
      <p:sp>
        <p:nvSpPr>
          <p:cNvPr id="26" name="Rectangle 25">
            <a:extLst>
              <a:ext uri="{FF2B5EF4-FFF2-40B4-BE49-F238E27FC236}">
                <a16:creationId xmlns:a16="http://schemas.microsoft.com/office/drawing/2014/main" id="{3A0964D7-B4D5-4929-A7A3-F09BD2C7D58E}"/>
              </a:ext>
            </a:extLst>
          </p:cNvPr>
          <p:cNvSpPr>
            <a:spLocks noGrp="1"/>
          </p:cNvSpPr>
          <p:nvPr/>
        </p:nvSpPr>
        <p:spPr>
          <a:xfrm>
            <a:off x="4000500" y="6038850"/>
            <a:ext cx="1809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647085"/>
                </a:solidFill>
                <a:latin typeface="Aptos"/>
                <a:ea typeface="Aptos"/>
                <a:cs typeface="Aptos"/>
              </a:defRPr>
            </a:pPr>
            <a:r>
              <a:rPr sz="675" b="0">
                <a:solidFill>
                  <a:srgbClr val="647085"/>
                </a:solidFill>
                <a:latin typeface="Aptos"/>
                <a:ea typeface="Aptos"/>
                <a:cs typeface="Aptos"/>
              </a:rPr>
              <a:t>1261 packets received</a:t>
            </a:r>
          </a:p>
        </p:txBody>
      </p:sp>
      <p:sp>
        <p:nvSpPr>
          <p:cNvPr id="27" name="Rectangle 26">
            <a:extLst>
              <a:ext uri="{FF2B5EF4-FFF2-40B4-BE49-F238E27FC236}">
                <a16:creationId xmlns:a16="http://schemas.microsoft.com/office/drawing/2014/main" id="{53B0EAF2-5593-41F0-880B-A6FE16D73B77}"/>
              </a:ext>
            </a:extLst>
          </p:cNvPr>
          <p:cNvSpPr>
            <a:spLocks noGrp="1"/>
          </p:cNvSpPr>
          <p:nvPr/>
        </p:nvSpPr>
        <p:spPr>
          <a:xfrm>
            <a:off x="6705600" y="5505450"/>
            <a:ext cx="38100" cy="685800"/>
          </a:xfrm>
          <a:prstGeom prst="rect">
            <a:avLst/>
          </a:prstGeom>
          <a:solidFill>
            <a:srgbClr val="F59E0B"/>
          </a:solidFill>
          <a:ln w="0">
            <a:solidFill>
              <a:srgbClr val="000000">
                <a:alpha val="0"/>
              </a:srgbClr>
            </a:solidFill>
            <a:prstDash val="solid"/>
          </a:ln>
        </p:spPr>
        <p:txBody>
          <a:bodyPr/>
          <a:lstStyle/>
          <a:p>
            <a:endParaRPr lang="en-US"/>
          </a:p>
        </p:txBody>
      </p:sp>
      <p:sp>
        <p:nvSpPr>
          <p:cNvPr id="28" name="Rectangle 27">
            <a:extLst>
              <a:ext uri="{FF2B5EF4-FFF2-40B4-BE49-F238E27FC236}">
                <a16:creationId xmlns:a16="http://schemas.microsoft.com/office/drawing/2014/main" id="{7D49E3FE-BCDB-4385-80CB-A52331DC134C}"/>
              </a:ext>
            </a:extLst>
          </p:cNvPr>
          <p:cNvSpPr>
            <a:spLocks noGrp="1"/>
          </p:cNvSpPr>
          <p:nvPr/>
        </p:nvSpPr>
        <p:spPr>
          <a:xfrm>
            <a:off x="6858000" y="5486400"/>
            <a:ext cx="1619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42033"/>
                </a:solidFill>
                <a:latin typeface="Aptos"/>
                <a:ea typeface="Aptos"/>
                <a:cs typeface="Aptos"/>
              </a:defRPr>
            </a:pPr>
            <a:r>
              <a:rPr sz="2100" b="1">
                <a:solidFill>
                  <a:srgbClr val="142033"/>
                </a:solidFill>
                <a:latin typeface="Aptos"/>
                <a:ea typeface="Aptos"/>
                <a:cs typeface="Aptos"/>
              </a:rPr>
              <a:t>next</a:t>
            </a:r>
          </a:p>
        </p:txBody>
      </p:sp>
      <p:sp>
        <p:nvSpPr>
          <p:cNvPr id="29" name="Rectangle 28">
            <a:extLst>
              <a:ext uri="{FF2B5EF4-FFF2-40B4-BE49-F238E27FC236}">
                <a16:creationId xmlns:a16="http://schemas.microsoft.com/office/drawing/2014/main" id="{B280954F-5107-4958-81CD-69093E18B1AE}"/>
              </a:ext>
            </a:extLst>
          </p:cNvPr>
          <p:cNvSpPr>
            <a:spLocks noGrp="1"/>
          </p:cNvSpPr>
          <p:nvPr/>
        </p:nvSpPr>
        <p:spPr>
          <a:xfrm>
            <a:off x="6858000" y="5867400"/>
            <a:ext cx="1619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647085"/>
                </a:solidFill>
                <a:latin typeface="Aptos"/>
                <a:ea typeface="Aptos"/>
                <a:cs typeface="Aptos"/>
              </a:defRPr>
            </a:pPr>
            <a:r>
              <a:rPr sz="675" b="1">
                <a:solidFill>
                  <a:srgbClr val="647085"/>
                </a:solidFill>
                <a:latin typeface="Aptos"/>
                <a:ea typeface="Aptos"/>
                <a:cs typeface="Aptos"/>
              </a:rPr>
              <a:t>VARIANCE TESTING</a:t>
            </a:r>
          </a:p>
        </p:txBody>
      </p:sp>
      <p:sp>
        <p:nvSpPr>
          <p:cNvPr id="30" name="Rectangle 29">
            <a:extLst>
              <a:ext uri="{FF2B5EF4-FFF2-40B4-BE49-F238E27FC236}">
                <a16:creationId xmlns:a16="http://schemas.microsoft.com/office/drawing/2014/main" id="{E4E5F3C5-5DEE-4305-B98E-E279DFCF2282}"/>
              </a:ext>
            </a:extLst>
          </p:cNvPr>
          <p:cNvSpPr>
            <a:spLocks noGrp="1"/>
          </p:cNvSpPr>
          <p:nvPr/>
        </p:nvSpPr>
        <p:spPr>
          <a:xfrm>
            <a:off x="6858000" y="6038850"/>
            <a:ext cx="1809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647085"/>
                </a:solidFill>
                <a:latin typeface="Aptos"/>
                <a:ea typeface="Aptos"/>
                <a:cs typeface="Aptos"/>
              </a:defRPr>
            </a:pPr>
            <a:r>
              <a:rPr sz="675" b="0">
                <a:solidFill>
                  <a:srgbClr val="647085"/>
                </a:solidFill>
                <a:latin typeface="Aptos"/>
                <a:ea typeface="Aptos"/>
                <a:cs typeface="Aptos"/>
              </a:rPr>
              <a:t>multi-seed validation</a:t>
            </a:r>
          </a:p>
        </p:txBody>
      </p:sp>
    </p:spTree>
    <p:extLst>
      <p:ext uri="{BB962C8B-B14F-4D97-AF65-F5344CB8AC3E}">
        <p14:creationId xmlns:p14="http://schemas.microsoft.com/office/powerpoint/2010/main" val="147428599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c8f49a32-fde3-48a5-9266-b5b0972a22dc}" enabled="1" method="Standard" siteId="{5ae1af62-9505-4097-a69a-c1553ef7840e}" contentBits="2" removed="0"/>
</clbl:labelList>
</file>

<file path=docProps/app.xml><?xml version="1.0" encoding="utf-8"?>
<Properties xmlns="http://schemas.openxmlformats.org/officeDocument/2006/extended-properties" xmlns:vt="http://schemas.openxmlformats.org/officeDocument/2006/docPropsVTypes">
  <TotalTime>0</TotalTime>
  <Words>742</Words>
  <Application>Microsoft Macintosh PowerPoint</Application>
  <DocSecurity>0</DocSecurity>
  <PresentationFormat>Widescreen</PresentationFormat>
  <Paragraphs>120</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Aptos Mono</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Fernando Molina Rodriguez (fmolinar)</cp:lastModifiedBy>
  <cp:revision>1</cp:revision>
  <dcterms:created xsi:type="dcterms:W3CDTF">2026-05-02T23:55:20Z</dcterms:created>
  <dcterms:modified xsi:type="dcterms:W3CDTF">2026-05-03T00:14:14Z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ChatGPT:3</vt:lpwstr>
  </property>
  <property fmtid="{D5CDD505-2E9C-101B-9397-08002B2CF9AE}" pid="3" name="ClassificationContentMarkingFooterText">
    <vt:lpwstr>Cisco Confidential</vt:lpwstr>
  </property>
</Properties>
</file>